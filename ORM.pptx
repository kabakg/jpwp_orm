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68" r:id="rId4"/>
    <p:sldId id="266" r:id="rId5"/>
    <p:sldId id="267" r:id="rId6"/>
    <p:sldId id="259" r:id="rId7"/>
    <p:sldId id="260" r:id="rId8"/>
    <p:sldId id="261" r:id="rId9"/>
    <p:sldId id="263" r:id="rId10"/>
    <p:sldId id="264" r:id="rId11"/>
    <p:sldId id="265" r:id="rId12"/>
  </p:sldIdLst>
  <p:sldSz cx="14630400" cy="8229600"/>
  <p:notesSz cx="8229600" cy="14630400"/>
  <p:embeddedFontLst>
    <p:embeddedFont>
      <p:font typeface="Consolas" panose="020B0609020204030204" pitchFamily="49" charset="0"/>
      <p:regular r:id="rId14"/>
      <p:bold r:id="rId15"/>
      <p:italic r:id="rId16"/>
      <p:boldItalic r:id="rId17"/>
    </p:embeddedFont>
    <p:embeddedFont>
      <p:font typeface="Inter" panose="020B0604020202020204" charset="0"/>
      <p:regular r:id="rId18"/>
    </p:embeddedFont>
  </p:embeddedFontLst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5772" autoAdjust="0"/>
  </p:normalViewPr>
  <p:slideViewPr>
    <p:cSldViewPr snapToGrid="0" snapToObjects="1">
      <p:cViewPr varScale="1">
        <p:scale>
          <a:sx n="102" d="100"/>
          <a:sy n="102" d="100"/>
        </p:scale>
        <p:origin x="1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23911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F483DBD-0044-7079-154E-E4184D7169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F898ED9-86CC-64B0-2391-5367F39EDA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9C8FB63-525A-AF53-9851-17EA32238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04.05.2026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E6DD38C-61F6-DD69-08A0-61D5146BC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854CF79-99A3-FBD8-F5CE-ED1BB63BA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1275201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B8C2B3D-64F1-0CAB-0993-25A8063A8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6F766A7-C52D-8642-A3C2-0D563F04A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E3A98E4-F5CD-79F9-5838-934BF79C2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04.05.2026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94CE7FA-DA38-34A6-B9EB-62A04BE72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0BA8793-42C3-8569-9339-6855E1DE0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0573508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DE518FD-3B5B-53B5-632E-2AC8DD59C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548F125-E200-29DB-5D10-93FBC315C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B2E5E76-8FDB-3532-2A37-2D83D7209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04.05.2026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5F75119-D917-60AD-C901-96D109C16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23DF001-DF58-0E47-D325-7530698A9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2193433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5368271-0268-A224-64B3-3B499E5DB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4802153-16F8-CA9F-A9A3-5C5988E98D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7C15D6E-B66F-93DF-4BCA-0A2AF7E833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23ABB92E-F0E1-094A-47BF-1A3200F52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04.05.2026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25B0607D-6267-52DB-C406-6C0B21F10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BEF42C38-B1B5-3C94-6B07-F9C2653DF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0333601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76B20BB-7196-AF25-50F4-B7BDD3C7F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D5868E87-D87D-1B63-9FF3-63B17C834B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BEC9207-FA74-C3E9-EA63-5FF046273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72C169FC-0010-D32A-0A38-17952068E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E8303F5D-87DB-5053-1ED3-8F2156FC21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1CA5A43D-F347-3D63-3C14-2BC7B0605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04.05.2026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66EBC6D6-DCD3-5EE6-CEF3-BF7112F3E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A31E4A7A-8B74-42C5-5D0E-E97AEB15B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2097679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663B5EC-6F70-6314-7D75-12633451D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C3208367-2726-64E7-A155-20AAE87B0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04.05.2026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768E39D0-AACE-A1C6-8A57-6651545FC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660B7994-31ED-C0A9-AD63-8E7B9389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2860295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B3CFFF59-7233-20D5-6DB6-376488EA6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04.05.2026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7DBB89B3-9BEB-D883-B2CF-A91FC7CE8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D4EED200-30A0-3DB6-1B02-007BD4DEA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812077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ACFD4B4-DA95-291B-2F24-17CFEE7A2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754DD37-689A-3BB5-975E-A7F1E55F8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47EE519-080A-B271-7336-5196BAA273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6B642004-BFCA-FBE4-3F04-D7547948B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04.05.2026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F0C323FE-312D-F1ED-6F3B-8698E57EB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CB15FB22-D499-069B-24E0-A3A4487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7157114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CA6409A-3985-4B09-314D-89D1112BE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C2CB9B0A-B287-F15F-BF3F-EB9A25F55E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767FD84C-9AA8-931A-C516-64A187EF67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6711B1D-E9F2-903C-2DB7-533ECD41D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04.05.2026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9660CF7-3B25-E961-19CB-86B63DCF4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BF91C069-0AE8-2F37-3CFF-54640D199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433832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2964636-511B-4ECD-9CE1-243DE7CC4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B88C2EBA-08FD-60FF-4B45-E1677CAEB3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AFBC105-B8B8-BFE8-C25B-BCA7E1CBA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04.05.2026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FA5ECFC-A4B3-1D4D-F1B2-8E31786F6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9E6ADFC-B382-3295-26BC-1F4F9BC67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512970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A2B9B77E-5F64-F631-1775-DAFB1DCB4E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B7E52056-23C8-3440-9293-00A2FE36E9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A576A5E-89D1-A17D-6DB1-AE6594D84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B734F-8983-453F-99D0-56DFFD383BAA}" type="datetimeFigureOut">
              <a:rPr lang="pl-PL" smtClean="0"/>
              <a:t>04.05.2026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A91D34A-3BE2-D18B-EA65-1D6F34725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9B8B997-36F9-278D-3E9C-CD2175731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9772265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8475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6843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24883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19170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6123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9301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89912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3171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57F664C7-2343-21F9-103E-BCF56EC64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4916A96-7C54-C38E-B975-AF838F228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D93BCE3C-E298-D221-5410-58C944535B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6B734F-8983-453F-99D0-56DFFD383BAA}" type="datetimeFigureOut">
              <a:rPr lang="pl-PL" smtClean="0"/>
              <a:t>04.05.2026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2DE8C35-65B7-8E9B-0104-65E7A0DAC0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AAA2B19-0099-8A8C-CD6F-402DC379F1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ADC1EB-DA7D-4E07-B5C2-257CBC2877F0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2463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5" r:id="rId14"/>
    <p:sldLayoutId id="2147483676" r:id="rId15"/>
    <p:sldLayoutId id="2147483677" r:id="rId16"/>
    <p:sldLayoutId id="2147483679" r:id="rId17"/>
    <p:sldLayoutId id="2147483680" r:id="rId18"/>
    <p:sldLayoutId id="2147483681" r:id="rId19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3341" y="531776"/>
            <a:ext cx="7369822" cy="156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pl-PL" sz="4000" b="1" dirty="0"/>
              <a:t>Praktyczne zastosowanie dekoratorów </a:t>
            </a:r>
          </a:p>
          <a:p>
            <a:pPr>
              <a:lnSpc>
                <a:spcPts val="5550"/>
              </a:lnSpc>
            </a:pPr>
            <a:r>
              <a:rPr lang="pl-PL" sz="4000" b="1" dirty="0"/>
              <a:t>oraz </a:t>
            </a:r>
            <a:r>
              <a:rPr lang="pl-PL" sz="4000" b="1" dirty="0" err="1"/>
              <a:t>metaprogramowania</a:t>
            </a:r>
            <a:r>
              <a:rPr lang="pl-PL" sz="4000" b="1" dirty="0"/>
              <a:t> w ORM.</a:t>
            </a:r>
          </a:p>
          <a:p>
            <a:pPr>
              <a:lnSpc>
                <a:spcPts val="5550"/>
              </a:lnSpc>
            </a:pPr>
            <a:endParaRPr lang="pl-PL" sz="4000" b="1" dirty="0"/>
          </a:p>
          <a:p>
            <a:pPr marL="571500" indent="-571500">
              <a:lnSpc>
                <a:spcPts val="5550"/>
              </a:lnSpc>
              <a:buFont typeface="Arial" panose="020B0604020202020204" pitchFamily="34" charset="0"/>
              <a:buChar char="•"/>
            </a:pPr>
            <a:endParaRPr lang="pl-PL" b="1" dirty="0"/>
          </a:p>
          <a:p>
            <a:pPr>
              <a:lnSpc>
                <a:spcPts val="5550"/>
              </a:lnSpc>
            </a:pPr>
            <a:endParaRPr lang="pl-PL" b="1" dirty="0"/>
          </a:p>
          <a:p>
            <a:pPr>
              <a:lnSpc>
                <a:spcPts val="5550"/>
              </a:lnSpc>
            </a:pPr>
            <a:endParaRPr lang="pl-PL" b="1" dirty="0"/>
          </a:p>
        </p:txBody>
      </p:sp>
      <p:sp>
        <p:nvSpPr>
          <p:cNvPr id="4" name="Text 1"/>
          <p:cNvSpPr/>
          <p:nvPr/>
        </p:nvSpPr>
        <p:spPr>
          <a:xfrm>
            <a:off x="793790" y="3927991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E369CF1E-B88E-5FED-7149-5FFF3C2E3BD8}"/>
              </a:ext>
            </a:extLst>
          </p:cNvPr>
          <p:cNvSpPr txBox="1"/>
          <p:nvPr/>
        </p:nvSpPr>
        <p:spPr>
          <a:xfrm>
            <a:off x="803217" y="3470791"/>
            <a:ext cx="57766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Wykonali: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Jakub Bogunia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Szymon Kumorek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8604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Plan prezentacji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848451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01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203496"/>
            <a:ext cx="4196358" cy="3048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793790" y="33778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pl-PL" sz="2200" b="1" dirty="0">
                <a:solidFill>
                  <a:srgbClr val="272525"/>
                </a:solidFill>
                <a:ea typeface="Inter Bold" pitchFamily="34" charset="-122"/>
              </a:rPr>
              <a:t>Wstęp teoretyczny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3868222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pl-PL" sz="1750" dirty="0"/>
              <a:t>Konflikt między światem bazodanowym a obiektowym, </a:t>
            </a:r>
            <a:r>
              <a:rPr lang="pl-PL" sz="1750" dirty="0" err="1"/>
              <a:t>Metaklasy</a:t>
            </a:r>
            <a:r>
              <a:rPr lang="pl-PL" sz="1750" dirty="0"/>
              <a:t>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5216962" y="2848451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02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5216962" y="3203496"/>
            <a:ext cx="4196358" cy="3048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5216962" y="33778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pl-PL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Mapowanie i</a:t>
            </a: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proxy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216962" y="3868222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pl-PL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Adnotacje, deskryptory i zarządzanie stanem atrybutów. 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640133" y="2848451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03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9640133" y="3203496"/>
            <a:ext cx="4196358" cy="3048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9640133" y="33778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Wzorzec Dekorator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40133" y="3868222"/>
            <a:ext cx="419635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Dirty checking i lazy loading bez zmiany kodu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93790" y="4990862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04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793790" y="5345906"/>
            <a:ext cx="6407944" cy="3048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Text 15"/>
          <p:cNvSpPr/>
          <p:nvPr/>
        </p:nvSpPr>
        <p:spPr>
          <a:xfrm>
            <a:off x="793790" y="552021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Generowanie SQL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93790" y="6010632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Automatyczne budowanie zapytań z adnotacji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7428548" y="4990862"/>
            <a:ext cx="4536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05</a:t>
            </a:r>
            <a:endParaRPr lang="en-US" sz="1750" dirty="0"/>
          </a:p>
        </p:txBody>
      </p:sp>
      <p:sp>
        <p:nvSpPr>
          <p:cNvPr id="20" name="Shape 18"/>
          <p:cNvSpPr/>
          <p:nvPr/>
        </p:nvSpPr>
        <p:spPr>
          <a:xfrm>
            <a:off x="7428548" y="5345906"/>
            <a:ext cx="6407944" cy="30480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7428548" y="552021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Podsumowanie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28548" y="6010632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Architektura i wnioski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4D7181-5933-4339-6CD7-4E55C7514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Object-</a:t>
            </a:r>
            <a:r>
              <a:rPr lang="pl-PL" dirty="0" err="1"/>
              <a:t>Relational</a:t>
            </a:r>
            <a:r>
              <a:rPr lang="pl-PL" dirty="0"/>
              <a:t> </a:t>
            </a:r>
            <a:r>
              <a:rPr lang="pl-PL" dirty="0" err="1"/>
              <a:t>Mapping</a:t>
            </a:r>
            <a:r>
              <a:rPr lang="pl-PL" dirty="0"/>
              <a:t> - wstęp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23C06E2-7F7D-016D-4D08-64A51930C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sz="2800" dirty="0"/>
              <a:t>Jest to technika programowania, która stanowi „most” między dwoma różnymi światami:</a:t>
            </a:r>
          </a:p>
          <a:p>
            <a:r>
              <a:rPr lang="pl-PL" sz="2000" b="1" dirty="0"/>
              <a:t>Światem obiektowym:</a:t>
            </a:r>
            <a:r>
              <a:rPr lang="pl-PL" sz="2000" dirty="0"/>
              <a:t> W którym tworzysz klasy i obiekty (np. w </a:t>
            </a:r>
            <a:r>
              <a:rPr lang="pl-PL" sz="2000" dirty="0" err="1"/>
              <a:t>Pythonie</a:t>
            </a:r>
            <a:r>
              <a:rPr lang="pl-PL" sz="2000" dirty="0"/>
              <a:t> czy w Javie).</a:t>
            </a:r>
          </a:p>
          <a:p>
            <a:r>
              <a:rPr lang="pl-PL" sz="2000" b="1" dirty="0"/>
              <a:t>Światem relacyjnym:</a:t>
            </a:r>
            <a:r>
              <a:rPr lang="pl-PL" sz="2000" dirty="0"/>
              <a:t> W którym dane są przechowywane w tabelach bazy danych (np. SQL).</a:t>
            </a:r>
          </a:p>
          <a:p>
            <a:endParaRPr lang="pl-PL" dirty="0"/>
          </a:p>
          <a:p>
            <a:pPr marL="0" indent="0">
              <a:buNone/>
            </a:pPr>
            <a:r>
              <a:rPr lang="pl-PL" sz="2400" dirty="0"/>
              <a:t>Dzięki ORM programista może operować na bazie danych za pomocą swojego języka programowania (np. wywołując metody na obiektach), zamiast ręcznie pisać długie i skomplikowane zapytania SQL</a:t>
            </a:r>
          </a:p>
        </p:txBody>
      </p:sp>
      <p:pic>
        <p:nvPicPr>
          <p:cNvPr id="4" name="Obraz 3" descr="Python (programming language) - Wikipedia">
            <a:extLst>
              <a:ext uri="{FF2B5EF4-FFF2-40B4-BE49-F238E27FC236}">
                <a16:creationId xmlns:a16="http://schemas.microsoft.com/office/drawing/2014/main" id="{8C3910D4-7F08-C3F9-6AEA-FC233A5F3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8648" y="5789727"/>
            <a:ext cx="2143125" cy="2143125"/>
          </a:xfrm>
          <a:prstGeom prst="rect">
            <a:avLst/>
          </a:prstGeom>
        </p:spPr>
      </p:pic>
      <p:pic>
        <p:nvPicPr>
          <p:cNvPr id="5" name="Obraz 4" descr="Grafika wektorowa Dwie strzałki, obrazy wektorowe | DepositPhotos">
            <a:extLst>
              <a:ext uri="{FF2B5EF4-FFF2-40B4-BE49-F238E27FC236}">
                <a16:creationId xmlns:a16="http://schemas.microsoft.com/office/drawing/2014/main" id="{0E44C0B5-935F-6472-3E03-A291FCA59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530" y="5648325"/>
            <a:ext cx="2143125" cy="2143125"/>
          </a:xfrm>
          <a:prstGeom prst="rect">
            <a:avLst/>
          </a:prstGeom>
        </p:spPr>
      </p:pic>
      <p:pic>
        <p:nvPicPr>
          <p:cNvPr id="7" name="Obraz 6" descr="SQL – Wikipedia, wolna encyklopedia">
            <a:extLst>
              <a:ext uri="{FF2B5EF4-FFF2-40B4-BE49-F238E27FC236}">
                <a16:creationId xmlns:a16="http://schemas.microsoft.com/office/drawing/2014/main" id="{F412ACA4-CBEE-C05B-C5DC-055EE3667D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5156" y="6097905"/>
            <a:ext cx="3086100" cy="147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991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F65EA52-9E32-AB93-E29C-2674BC5F5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Problem impedancji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F4434DE-FF5C-B05C-327A-9BDACF0564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sz="2800" b="1" dirty="0"/>
              <a:t>Problem:</a:t>
            </a:r>
            <a:r>
              <a:rPr lang="pl-PL" sz="2800" dirty="0"/>
              <a:t> Dane w pamięci RAM (obiekty) są ustrukturyzowane zupełnie inaczej niż dane na dysku (tabele).</a:t>
            </a:r>
          </a:p>
          <a:p>
            <a:r>
              <a:rPr lang="pl-PL" sz="2800" b="1" dirty="0"/>
              <a:t>Rola ORM:</a:t>
            </a:r>
            <a:r>
              <a:rPr lang="pl-PL" sz="2800" dirty="0"/>
              <a:t> Biblioteka mapowania obiektowego pełni rolę tłumacza, który ukrywa te różnice przed programistą.</a:t>
            </a:r>
          </a:p>
          <a:p>
            <a:r>
              <a:rPr lang="pl-PL" sz="2800" b="1" dirty="0"/>
              <a:t>Zadanie dla </a:t>
            </a:r>
            <a:r>
              <a:rPr lang="pl-PL" sz="2800" b="1" dirty="0" err="1"/>
              <a:t>Metaprogramowania</a:t>
            </a:r>
            <a:r>
              <a:rPr lang="pl-PL" sz="2800" b="1" dirty="0"/>
              <a:t>:</a:t>
            </a:r>
            <a:r>
              <a:rPr lang="pl-PL" sz="2800" dirty="0"/>
              <a:t> Musimy "nauczyć" obiekty, jak mają się zachowywać, aby udawały, że są częścią bazy danych, zachowując jednocześnie swoją obiektową naturę.</a:t>
            </a:r>
          </a:p>
          <a:p>
            <a:endParaRPr lang="pl-PL" dirty="0"/>
          </a:p>
        </p:txBody>
      </p:sp>
      <p:pic>
        <p:nvPicPr>
          <p:cNvPr id="5" name="Obraz 4" descr="Opornik 10 kΩ 1 W 0.5 % +25 ppm/°C Folia metalowa RS PRO | RS">
            <a:extLst>
              <a:ext uri="{FF2B5EF4-FFF2-40B4-BE49-F238E27FC236}">
                <a16:creationId xmlns:a16="http://schemas.microsoft.com/office/drawing/2014/main" id="{C8E3082E-5B17-7623-0FF5-0F59F973E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928" y="5148344"/>
            <a:ext cx="4449991" cy="2500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404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5EEF97C-757E-C052-B3A2-DB9DC2AD5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Jak </a:t>
            </a:r>
            <a:r>
              <a:rPr lang="pl-PL" dirty="0" err="1"/>
              <a:t>Python</a:t>
            </a:r>
            <a:r>
              <a:rPr lang="pl-PL" dirty="0"/>
              <a:t> buduje klasy? - </a:t>
            </a:r>
            <a:r>
              <a:rPr lang="pl-PL" dirty="0" err="1"/>
              <a:t>Metaklasy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A8AD487-C81D-7A36-A788-90B41704E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b="1" dirty="0" err="1"/>
              <a:t>Metaklasa</a:t>
            </a:r>
            <a:r>
              <a:rPr lang="pl-PL" dirty="0"/>
              <a:t> jako ”Fabryka”</a:t>
            </a:r>
          </a:p>
          <a:p>
            <a:pPr marL="0" indent="0">
              <a:buNone/>
            </a:pPr>
            <a:r>
              <a:rPr lang="pl-PL" sz="2000" dirty="0"/>
              <a:t>     Własna </a:t>
            </a:r>
            <a:r>
              <a:rPr lang="pl-PL" sz="2000" dirty="0" err="1"/>
              <a:t>metaklasa</a:t>
            </a:r>
            <a:r>
              <a:rPr lang="pl-PL" sz="2000" dirty="0"/>
              <a:t> pozwala nam "włamać się" do procesu tworzenia klasy za pomocą dwóch metod:</a:t>
            </a:r>
          </a:p>
          <a:p>
            <a:r>
              <a:rPr lang="pl-PL" sz="2000" b="1" dirty="0"/>
              <a:t> __</a:t>
            </a:r>
            <a:r>
              <a:rPr lang="pl-PL" sz="2000" b="1" dirty="0" err="1"/>
              <a:t>new</a:t>
            </a:r>
            <a:r>
              <a:rPr lang="pl-PL" sz="2000" b="1" dirty="0"/>
              <a:t>__</a:t>
            </a:r>
            <a:r>
              <a:rPr lang="pl-PL" sz="2000" dirty="0"/>
              <a:t>: Wywoływana </a:t>
            </a:r>
            <a:r>
              <a:rPr lang="pl-PL" sz="2000" b="1" dirty="0"/>
              <a:t>zanim</a:t>
            </a:r>
            <a:r>
              <a:rPr lang="pl-PL" sz="2000" dirty="0"/>
              <a:t> klasa zostanie stworzona. Pozwala na modyfikację struktury (np. automatyczne dodanie kolumn technicznych).</a:t>
            </a:r>
          </a:p>
          <a:p>
            <a:r>
              <a:rPr lang="pl-PL" sz="2000" b="1" dirty="0"/>
              <a:t>__</a:t>
            </a:r>
            <a:r>
              <a:rPr lang="pl-PL" sz="2000" b="1" dirty="0" err="1"/>
              <a:t>init</a:t>
            </a:r>
            <a:r>
              <a:rPr lang="pl-PL" sz="2000" b="1" dirty="0"/>
              <a:t>__</a:t>
            </a:r>
            <a:r>
              <a:rPr lang="pl-PL" sz="2000" dirty="0"/>
              <a:t>: Wywoływana </a:t>
            </a:r>
            <a:r>
              <a:rPr lang="pl-PL" sz="2000" b="1" dirty="0"/>
              <a:t>po</a:t>
            </a:r>
            <a:r>
              <a:rPr lang="pl-PL" sz="2000" dirty="0"/>
              <a:t> utworzeniu klasy. Służy do rejestracji klasy w systemie (np. w mapach </a:t>
            </a:r>
            <a:r>
              <a:rPr lang="pl-PL" sz="2000" dirty="0" err="1"/>
              <a:t>SQLAlchemy</a:t>
            </a:r>
            <a:r>
              <a:rPr lang="pl-PL" sz="2000" dirty="0"/>
              <a:t>).</a:t>
            </a:r>
          </a:p>
          <a:p>
            <a:endParaRPr lang="pl-PL" dirty="0"/>
          </a:p>
        </p:txBody>
      </p:sp>
      <p:pic>
        <p:nvPicPr>
          <p:cNvPr id="7" name="Obraz 6" descr="Fabryka — zdjęcia stockowe, ilustracje i obrazy bez tantiem (liczba: 3,4  miliona) | Shutterstock">
            <a:extLst>
              <a:ext uri="{FF2B5EF4-FFF2-40B4-BE49-F238E27FC236}">
                <a16:creationId xmlns:a16="http://schemas.microsoft.com/office/drawing/2014/main" id="{17F8C7C1-8942-770B-A65B-4D8A65745C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55"/>
          <a:stretch>
            <a:fillRect/>
          </a:stretch>
        </p:blipFill>
        <p:spPr>
          <a:xfrm>
            <a:off x="553025" y="5633936"/>
            <a:ext cx="4282926" cy="2289062"/>
          </a:xfrm>
          <a:prstGeom prst="rect">
            <a:avLst/>
          </a:prstGeom>
        </p:spPr>
      </p:pic>
      <p:pic>
        <p:nvPicPr>
          <p:cNvPr id="9" name="Obraz 8">
            <a:extLst>
              <a:ext uri="{FF2B5EF4-FFF2-40B4-BE49-F238E27FC236}">
                <a16:creationId xmlns:a16="http://schemas.microsoft.com/office/drawing/2014/main" id="{22AD5C28-15E6-1175-C556-24FA705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383" y="4431786"/>
            <a:ext cx="5844619" cy="3637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997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1407" y="621506"/>
            <a:ext cx="7719536" cy="697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50"/>
              </a:lnSpc>
              <a:buNone/>
            </a:pPr>
            <a:r>
              <a:rPr lang="en-US" sz="4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Adnotacje i Refleksja w akcji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781407" y="1868686"/>
            <a:ext cx="2790944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pl-PL" sz="2150" b="1" dirty="0">
                <a:solidFill>
                  <a:srgbClr val="000000"/>
                </a:solidFill>
                <a:ea typeface="Inter Bold" pitchFamily="34" charset="-122"/>
              </a:rPr>
              <a:t>Adnotacje, </a:t>
            </a:r>
            <a:r>
              <a:rPr lang="pl-PL" sz="2150" dirty="0">
                <a:solidFill>
                  <a:srgbClr val="000000"/>
                </a:solidFill>
                <a:ea typeface="Inter Bold" pitchFamily="34" charset="-122"/>
              </a:rPr>
              <a:t>czyli metadane przypisane do pól, </a:t>
            </a:r>
          </a:p>
          <a:p>
            <a:pPr marL="0" indent="0" algn="l">
              <a:lnSpc>
                <a:spcPts val="2700"/>
              </a:lnSpc>
              <a:buNone/>
            </a:pPr>
            <a:r>
              <a:rPr lang="pl-PL" sz="2150" dirty="0">
                <a:solidFill>
                  <a:srgbClr val="000000"/>
                </a:solidFill>
                <a:ea typeface="Inter Bold" pitchFamily="34" charset="-122"/>
              </a:rPr>
              <a:t>które później odczyta nasz silnik.</a:t>
            </a:r>
            <a:endParaRPr lang="en-US" sz="2150" dirty="0"/>
          </a:p>
        </p:txBody>
      </p:sp>
      <p:sp>
        <p:nvSpPr>
          <p:cNvPr id="6" name="Text 4"/>
          <p:cNvSpPr/>
          <p:nvPr/>
        </p:nvSpPr>
        <p:spPr>
          <a:xfrm>
            <a:off x="1049417" y="2687955"/>
            <a:ext cx="5725478" cy="3897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005CC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595116" y="1868686"/>
            <a:ext cx="2790944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00"/>
              </a:lnSpc>
            </a:pPr>
            <a:r>
              <a:rPr lang="pl-PL" sz="2150" b="1" dirty="0" err="1">
                <a:solidFill>
                  <a:srgbClr val="000000"/>
                </a:solidFill>
                <a:ea typeface="Inter Bold" pitchFamily="34" charset="-122"/>
              </a:rPr>
              <a:t>Reflekcja</a:t>
            </a:r>
            <a:r>
              <a:rPr lang="pl-PL" sz="2150" b="1" dirty="0">
                <a:solidFill>
                  <a:srgbClr val="000000"/>
                </a:solidFill>
                <a:ea typeface="Inter Bold" pitchFamily="34" charset="-122"/>
              </a:rPr>
              <a:t> </a:t>
            </a:r>
            <a:r>
              <a:rPr lang="pl-PL" sz="2400" dirty="0"/>
              <a:t>pozwala nam "zapytać" obiekt </a:t>
            </a:r>
          </a:p>
          <a:p>
            <a:pPr>
              <a:lnSpc>
                <a:spcPts val="2700"/>
              </a:lnSpc>
            </a:pPr>
            <a:r>
              <a:rPr lang="pl-PL" sz="2400" dirty="0"/>
              <a:t>o jego wnętrze w czasie działania programu. </a:t>
            </a:r>
            <a:endParaRPr lang="en-US" sz="2150" dirty="0"/>
          </a:p>
        </p:txBody>
      </p:sp>
      <p:sp>
        <p:nvSpPr>
          <p:cNvPr id="10" name="Text 8"/>
          <p:cNvSpPr/>
          <p:nvPr/>
        </p:nvSpPr>
        <p:spPr>
          <a:xfrm>
            <a:off x="7863126" y="2687955"/>
            <a:ext cx="5725478" cy="412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22863A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595116" y="6701671"/>
            <a:ext cx="6261497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endParaRPr lang="en-US" sz="1750" dirty="0"/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A1859460-9F16-1541-E7B9-6870759E7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972" y="2780897"/>
            <a:ext cx="6332940" cy="2911567"/>
          </a:xfrm>
          <a:prstGeom prst="rect">
            <a:avLst/>
          </a:prstGeom>
        </p:spPr>
      </p:pic>
      <p:pic>
        <p:nvPicPr>
          <p:cNvPr id="15" name="Obraz 14">
            <a:extLst>
              <a:ext uri="{FF2B5EF4-FFF2-40B4-BE49-F238E27FC236}">
                <a16:creationId xmlns:a16="http://schemas.microsoft.com/office/drawing/2014/main" id="{87324220-0F53-3767-26BA-EF573C7ED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679" y="3084604"/>
            <a:ext cx="7164370" cy="26078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376" y="610076"/>
            <a:ext cx="8173402" cy="6423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Dynamiczne Proxy — </a:t>
            </a:r>
            <a:r>
              <a:rPr lang="pl-PL" sz="4000" b="1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Lazy</a:t>
            </a:r>
            <a:r>
              <a:rPr lang="pl-PL" sz="4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</a:t>
            </a:r>
            <a:r>
              <a:rPr lang="pl-PL" sz="4000" b="1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Loading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9627513" y="1717953"/>
            <a:ext cx="2569488" cy="3211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endParaRPr lang="pl-PL" sz="2000" b="1" dirty="0">
              <a:solidFill>
                <a:srgbClr val="000000"/>
              </a:solidFill>
              <a:latin typeface="Inter Bold" pitchFamily="34" charset="0"/>
              <a:ea typeface="Inter Bold" pitchFamily="34" charset="-122"/>
              <a:cs typeface="Inter Bold" pitchFamily="34" charset="-120"/>
            </a:endParaRPr>
          </a:p>
        </p:txBody>
      </p:sp>
      <p:sp>
        <p:nvSpPr>
          <p:cNvPr id="5" name="Text 2"/>
          <p:cNvSpPr/>
          <p:nvPr/>
        </p:nvSpPr>
        <p:spPr>
          <a:xfrm>
            <a:off x="9627513" y="2225278"/>
            <a:ext cx="4291013" cy="1261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874210" y="3901916"/>
            <a:ext cx="3797618" cy="2194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endParaRPr lang="pl-PL" sz="1600" dirty="0">
              <a:solidFill>
                <a:srgbClr val="27252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l">
              <a:lnSpc>
                <a:spcPts val="245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627513" y="6511409"/>
            <a:ext cx="4291013" cy="940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endParaRPr lang="pl-PL" sz="1600" dirty="0">
              <a:solidFill>
                <a:srgbClr val="272525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pic>
        <p:nvPicPr>
          <p:cNvPr id="12" name="Obraz 11">
            <a:extLst>
              <a:ext uri="{FF2B5EF4-FFF2-40B4-BE49-F238E27FC236}">
                <a16:creationId xmlns:a16="http://schemas.microsoft.com/office/drawing/2014/main" id="{A82F614A-5B66-14AD-4C70-1D9589C8AA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336" y="3749643"/>
            <a:ext cx="7846023" cy="3988944"/>
          </a:xfrm>
          <a:prstGeom prst="rect">
            <a:avLst/>
          </a:prstGeom>
        </p:spPr>
      </p:pic>
      <p:sp>
        <p:nvSpPr>
          <p:cNvPr id="14" name="pole tekstowe 13">
            <a:extLst>
              <a:ext uri="{FF2B5EF4-FFF2-40B4-BE49-F238E27FC236}">
                <a16:creationId xmlns:a16="http://schemas.microsoft.com/office/drawing/2014/main" id="{6CD42CE4-924F-3993-62B9-D1BCAA98EE1A}"/>
              </a:ext>
            </a:extLst>
          </p:cNvPr>
          <p:cNvSpPr txBox="1"/>
          <p:nvPr/>
        </p:nvSpPr>
        <p:spPr>
          <a:xfrm>
            <a:off x="989814" y="1923068"/>
            <a:ext cx="96670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Proxy</a:t>
            </a:r>
            <a:r>
              <a:rPr lang="pl-PL" dirty="0"/>
              <a:t> to obiekt, który udaje inną klasę, przechwytując wszystkie odwołania do jej pól i metod.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Mechanizm __</a:t>
            </a:r>
            <a:r>
              <a:rPr lang="pl-PL" b="1" dirty="0" err="1"/>
              <a:t>getattr</a:t>
            </a:r>
            <a:r>
              <a:rPr lang="pl-PL" b="1" dirty="0"/>
              <a:t>__</a:t>
            </a:r>
          </a:p>
        </p:txBody>
      </p: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9B26FAFA-004C-B8D3-9E62-7ADA373DABDE}"/>
              </a:ext>
            </a:extLst>
          </p:cNvPr>
          <p:cNvSpPr txBox="1"/>
          <p:nvPr/>
        </p:nvSpPr>
        <p:spPr>
          <a:xfrm>
            <a:off x="989814" y="3240049"/>
            <a:ext cx="5553251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800" b="1" dirty="0"/>
              <a:t>Zalety: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Oszczędność pamięci RAM</a:t>
            </a:r>
          </a:p>
          <a:p>
            <a:r>
              <a:rPr lang="pl-PL" sz="1600" dirty="0"/>
              <a:t>       Wykorzystanie Proxy umożliwia pobranie tylko</a:t>
            </a:r>
          </a:p>
          <a:p>
            <a:r>
              <a:rPr lang="pl-PL" sz="1600" dirty="0"/>
              <a:t>       tych danych, które potrzebujemy w danym momencie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Błyskawiczna Reakcja Aplikacji: </a:t>
            </a:r>
          </a:p>
          <a:p>
            <a:r>
              <a:rPr lang="pl-PL" sz="1600" dirty="0"/>
              <a:t>       Początkowe zapytanie SQL jest bardzo lekkie i szybkie. </a:t>
            </a:r>
          </a:p>
          <a:p>
            <a:r>
              <a:rPr lang="pl-PL" sz="1600" dirty="0"/>
              <a:t>       Aplikacja „startuje” natychmiast, bo nie musi czekać na </a:t>
            </a:r>
          </a:p>
          <a:p>
            <a:r>
              <a:rPr lang="pl-PL" sz="1600" dirty="0"/>
              <a:t>       zakończenie skomplikowanych operacji na wielu tabelach</a:t>
            </a:r>
          </a:p>
          <a:p>
            <a:endParaRPr lang="pl-PL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 err="1"/>
              <a:t>Dirty</a:t>
            </a:r>
            <a:r>
              <a:rPr lang="pl-PL" b="1" dirty="0"/>
              <a:t> </a:t>
            </a:r>
            <a:r>
              <a:rPr lang="pl-PL" b="1" dirty="0" err="1"/>
              <a:t>Checking</a:t>
            </a:r>
            <a:r>
              <a:rPr lang="pl-PL" b="1" dirty="0"/>
              <a:t>.</a:t>
            </a:r>
          </a:p>
        </p:txBody>
      </p:sp>
      <p:pic>
        <p:nvPicPr>
          <p:cNvPr id="16" name="Obraz 15" descr="Klepsydra - YouTube">
            <a:extLst>
              <a:ext uri="{FF2B5EF4-FFF2-40B4-BE49-F238E27FC236}">
                <a16:creationId xmlns:a16="http://schemas.microsoft.com/office/drawing/2014/main" id="{B69E3A0A-2D75-5DB8-75C1-B42A576F82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8754"/>
          <a:stretch>
            <a:fillRect/>
          </a:stretch>
        </p:blipFill>
        <p:spPr>
          <a:xfrm>
            <a:off x="11115675" y="0"/>
            <a:ext cx="3514725" cy="25041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758" y="640199"/>
            <a:ext cx="7680484" cy="1306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4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Dirty Checking — śledzenie zmian</a:t>
            </a:r>
            <a:endParaRPr lang="en-US" sz="4100" dirty="0"/>
          </a:p>
        </p:txBody>
      </p:sp>
      <p:sp>
        <p:nvSpPr>
          <p:cNvPr id="4" name="Shape 1"/>
          <p:cNvSpPr/>
          <p:nvPr/>
        </p:nvSpPr>
        <p:spPr>
          <a:xfrm>
            <a:off x="731758" y="2236113"/>
            <a:ext cx="7680484" cy="1548765"/>
          </a:xfrm>
          <a:prstGeom prst="roundRect">
            <a:avLst>
              <a:gd name="adj" fmla="val 7085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Shape 2"/>
          <p:cNvSpPr/>
          <p:nvPr/>
        </p:nvSpPr>
        <p:spPr>
          <a:xfrm>
            <a:off x="708898" y="2236113"/>
            <a:ext cx="91440" cy="1548765"/>
          </a:xfrm>
          <a:prstGeom prst="roundRect">
            <a:avLst>
              <a:gd name="adj" fmla="val 96046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3"/>
          <p:cNvSpPr/>
          <p:nvPr/>
        </p:nvSpPr>
        <p:spPr>
          <a:xfrm>
            <a:off x="1032272" y="2468047"/>
            <a:ext cx="2613779" cy="326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Problem</a:t>
            </a:r>
            <a:endParaRPr lang="en-US" sz="2050" dirty="0"/>
          </a:p>
        </p:txBody>
      </p:sp>
      <p:sp>
        <p:nvSpPr>
          <p:cNvPr id="7" name="Text 4"/>
          <p:cNvSpPr/>
          <p:nvPr/>
        </p:nvSpPr>
        <p:spPr>
          <a:xfrm>
            <a:off x="1032272" y="2910245"/>
            <a:ext cx="7148036" cy="642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Jak wykryć, które pola obiektu zmieniły się od momentu załadowania — bez modyfikowania klasy domenowej?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31758" y="3977640"/>
            <a:ext cx="7680484" cy="1870115"/>
          </a:xfrm>
          <a:prstGeom prst="roundRect">
            <a:avLst>
              <a:gd name="adj" fmla="val 5867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Shape 6"/>
          <p:cNvSpPr/>
          <p:nvPr/>
        </p:nvSpPr>
        <p:spPr>
          <a:xfrm>
            <a:off x="708898" y="3977640"/>
            <a:ext cx="91440" cy="1870115"/>
          </a:xfrm>
          <a:prstGeom prst="roundRect">
            <a:avLst>
              <a:gd name="adj" fmla="val 96046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7"/>
          <p:cNvSpPr/>
          <p:nvPr/>
        </p:nvSpPr>
        <p:spPr>
          <a:xfrm>
            <a:off x="1032272" y="4209574"/>
            <a:ext cx="4057055" cy="326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Rozwiązanie: Dekorator + Proxy</a:t>
            </a:r>
            <a:endParaRPr lang="en-US" sz="2050" dirty="0"/>
          </a:p>
        </p:txBody>
      </p:sp>
      <p:sp>
        <p:nvSpPr>
          <p:cNvPr id="11" name="Text 8"/>
          <p:cNvSpPr/>
          <p:nvPr/>
        </p:nvSpPr>
        <p:spPr>
          <a:xfrm>
            <a:off x="1032272" y="4651772"/>
            <a:ext cx="7148036" cy="9640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Dekorator opakowuje oryginalny obiekt. Przy każdym setterze porównuje nową wartość ze snapshotem. Zmodyfikowane pola trafiają do listy </a:t>
            </a:r>
            <a:r>
              <a:rPr lang="en-US" sz="160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dirtyFields</a:t>
            </a: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31758" y="6040517"/>
            <a:ext cx="7680484" cy="1548765"/>
          </a:xfrm>
          <a:prstGeom prst="roundRect">
            <a:avLst>
              <a:gd name="adj" fmla="val 7085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Shape 10"/>
          <p:cNvSpPr/>
          <p:nvPr/>
        </p:nvSpPr>
        <p:spPr>
          <a:xfrm>
            <a:off x="708898" y="6040517"/>
            <a:ext cx="91440" cy="1548765"/>
          </a:xfrm>
          <a:prstGeom prst="roundRect">
            <a:avLst>
              <a:gd name="adj" fmla="val 96046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1"/>
          <p:cNvSpPr/>
          <p:nvPr/>
        </p:nvSpPr>
        <p:spPr>
          <a:xfrm>
            <a:off x="1032272" y="6272451"/>
            <a:ext cx="2613779" cy="326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Rezultat</a:t>
            </a:r>
            <a:endParaRPr lang="en-US" sz="2050" dirty="0"/>
          </a:p>
        </p:txBody>
      </p:sp>
      <p:sp>
        <p:nvSpPr>
          <p:cNvPr id="15" name="Text 12"/>
          <p:cNvSpPr/>
          <p:nvPr/>
        </p:nvSpPr>
        <p:spPr>
          <a:xfrm>
            <a:off x="1032272" y="6714649"/>
            <a:ext cx="7148036" cy="642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Przy commitcie ORM generuje </a:t>
            </a:r>
            <a:r>
              <a:rPr lang="en-US" sz="160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tylko dla zmienionych kolumn — minimalny narzut na bazę danych.</a:t>
            </a:r>
            <a:endParaRPr lang="en-US" sz="1600" dirty="0"/>
          </a:p>
        </p:txBody>
      </p:sp>
      <p:pic>
        <p:nvPicPr>
          <p:cNvPr id="17" name="Obraz 16" descr="Człowiek Patrząc Przez Lupę Na Obiekcie. Zdjęcia royalty free, obrazki,  obrazy oraz fotografia seryjna. Image 31899738">
            <a:extLst>
              <a:ext uri="{FF2B5EF4-FFF2-40B4-BE49-F238E27FC236}">
                <a16:creationId xmlns:a16="http://schemas.microsoft.com/office/drawing/2014/main" id="{33D4E6FD-4E5F-9CA5-B841-344D45C3A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0693" y="2162420"/>
            <a:ext cx="4522607" cy="602122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6905" y="530900"/>
            <a:ext cx="6575108" cy="575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Generowanie SQL z adnotacji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3114147" y="5089864"/>
            <a:ext cx="2229054" cy="688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Odczyt adnotacji</a:t>
            </a:r>
            <a:endParaRPr lang="en-US" sz="2150" dirty="0"/>
          </a:p>
        </p:txBody>
      </p:sp>
      <p:sp>
        <p:nvSpPr>
          <p:cNvPr id="5" name="Text 2"/>
          <p:cNvSpPr/>
          <p:nvPr/>
        </p:nvSpPr>
        <p:spPr>
          <a:xfrm>
            <a:off x="3114147" y="5876770"/>
            <a:ext cx="2229054" cy="499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@Entity, @Table, @Column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9372646" y="5004132"/>
            <a:ext cx="2229055" cy="688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Wykonanie i mapowanie</a:t>
            </a:r>
            <a:endParaRPr lang="en-US" sz="2150" dirty="0"/>
          </a:p>
        </p:txBody>
      </p:sp>
      <p:sp>
        <p:nvSpPr>
          <p:cNvPr id="7" name="Text 4"/>
          <p:cNvSpPr/>
          <p:nvPr/>
        </p:nvSpPr>
        <p:spPr>
          <a:xfrm>
            <a:off x="9372646" y="5791037"/>
            <a:ext cx="2229055" cy="499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ResultSet → obiekty aplikacji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261768" y="1991617"/>
            <a:ext cx="2229054" cy="688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Budowa zapytania</a:t>
            </a:r>
            <a:endParaRPr lang="en-US" sz="2150" dirty="0"/>
          </a:p>
        </p:txBody>
      </p:sp>
      <p:sp>
        <p:nvSpPr>
          <p:cNvPr id="9" name="Text 6"/>
          <p:cNvSpPr/>
          <p:nvPr/>
        </p:nvSpPr>
        <p:spPr>
          <a:xfrm>
            <a:off x="6261768" y="2778522"/>
            <a:ext cx="2229054" cy="499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SELECT, FROM, WHERE, JOIN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56905" y="7156728"/>
            <a:ext cx="12716470" cy="541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50858"/>
            <a:ext cx="860357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Dekorowanie wyników zapytań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426613"/>
            <a:ext cx="354687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Architektura dekoratorów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93790" y="3036094"/>
            <a:ext cx="3008948" cy="2130147"/>
          </a:xfrm>
          <a:prstGeom prst="roundRect">
            <a:avLst>
              <a:gd name="adj" fmla="val 4472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1028224" y="3270528"/>
            <a:ext cx="254007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ResultSet → Entity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28224" y="4206002"/>
            <a:ext cx="254007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Mapowanie kolumn na pola obiektu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4029551" y="3036094"/>
            <a:ext cx="3008948" cy="2130147"/>
          </a:xfrm>
          <a:prstGeom prst="roundRect">
            <a:avLst>
              <a:gd name="adj" fmla="val 4472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4263985" y="3270528"/>
            <a:ext cx="254007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Entity → Proxy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63985" y="3851672"/>
            <a:ext cx="254007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Opakowanie w proxy dla lazy loading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>
            <a:off x="793790" y="5393055"/>
            <a:ext cx="6244709" cy="1412915"/>
          </a:xfrm>
          <a:prstGeom prst="roundRect">
            <a:avLst>
              <a:gd name="adj" fmla="val 6743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1028224" y="5627489"/>
            <a:ext cx="293131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Proxy → DirtyTracker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28224" y="6208633"/>
            <a:ext cx="577584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Dodanie śledzenia zmian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599521" y="2426613"/>
            <a:ext cx="285642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Dlaczego dekorator?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599521" y="3007757"/>
            <a:ext cx="624470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Każdy dekorator dodaje jedną odpowiedzialność. Łańcuch dekoratorów tworzy w locie obiekt o pełnej funkcjonalności ORM — bez dziedziczenia, bez modyfikacji klasy bazowej.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599521" y="4663440"/>
            <a:ext cx="6244709" cy="2336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Otwarte na rozszerzenia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nowy dekorator = nowa funkcja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Zamknięte na modyfikacje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kod domenowy nietknięty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Kompozycja zamiast dziedziczenia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elastyczność w runtime</a:t>
            </a:r>
            <a:endParaRPr lang="en-US" sz="1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06993" y="584716"/>
            <a:ext cx="5050393" cy="631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39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Podsumowanie</a:t>
            </a:r>
            <a:endParaRPr lang="en-US" sz="3950" dirty="0"/>
          </a:p>
        </p:txBody>
      </p:sp>
      <p:sp>
        <p:nvSpPr>
          <p:cNvPr id="4" name="Shape 1"/>
          <p:cNvSpPr/>
          <p:nvPr/>
        </p:nvSpPr>
        <p:spPr>
          <a:xfrm>
            <a:off x="706993" y="1485781"/>
            <a:ext cx="7730014" cy="4546759"/>
          </a:xfrm>
          <a:prstGeom prst="roundRect">
            <a:avLst>
              <a:gd name="adj" fmla="val 1866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Shape 2"/>
          <p:cNvSpPr/>
          <p:nvPr/>
        </p:nvSpPr>
        <p:spPr>
          <a:xfrm>
            <a:off x="714613" y="1493401"/>
            <a:ext cx="7714774" cy="1132880"/>
          </a:xfrm>
          <a:prstGeom prst="roundRect">
            <a:avLst>
              <a:gd name="adj" fmla="val 7490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3"/>
          <p:cNvSpPr/>
          <p:nvPr/>
        </p:nvSpPr>
        <p:spPr>
          <a:xfrm>
            <a:off x="916543" y="1695331"/>
            <a:ext cx="2687122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Adnotacje + Refleksja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916543" y="2118836"/>
            <a:ext cx="7310914" cy="3055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Deklaratywne mapowanie obiektowo-relacyjne bez XML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14613" y="2626281"/>
            <a:ext cx="7714774" cy="113288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Shape 6"/>
          <p:cNvSpPr/>
          <p:nvPr/>
        </p:nvSpPr>
        <p:spPr>
          <a:xfrm>
            <a:off x="714613" y="2626281"/>
            <a:ext cx="7714774" cy="22860"/>
          </a:xfrm>
          <a:prstGeom prst="roundRect">
            <a:avLst>
              <a:gd name="adj" fmla="val 371163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7"/>
          <p:cNvSpPr/>
          <p:nvPr/>
        </p:nvSpPr>
        <p:spPr>
          <a:xfrm>
            <a:off x="916543" y="2828211"/>
            <a:ext cx="2525197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Dynamiczne Proxy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916543" y="3251716"/>
            <a:ext cx="7310914" cy="3055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Przechwytywanie wywołań — baza dla lazy loadingu i dirty checkingu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4613" y="3759160"/>
            <a:ext cx="7714774" cy="113288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Shape 10"/>
          <p:cNvSpPr/>
          <p:nvPr/>
        </p:nvSpPr>
        <p:spPr>
          <a:xfrm>
            <a:off x="714613" y="3759160"/>
            <a:ext cx="7714774" cy="22860"/>
          </a:xfrm>
          <a:prstGeom prst="roundRect">
            <a:avLst>
              <a:gd name="adj" fmla="val 371163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1"/>
          <p:cNvSpPr/>
          <p:nvPr/>
        </p:nvSpPr>
        <p:spPr>
          <a:xfrm>
            <a:off x="916543" y="3961090"/>
            <a:ext cx="2525197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Wzorzec Dekorator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916543" y="4384596"/>
            <a:ext cx="7310914" cy="3055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Rozszerzanie zachowania obiektów bez zmiany ich kodu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714613" y="4892040"/>
            <a:ext cx="7714774" cy="113288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Shape 14"/>
          <p:cNvSpPr/>
          <p:nvPr/>
        </p:nvSpPr>
        <p:spPr>
          <a:xfrm>
            <a:off x="714613" y="4892040"/>
            <a:ext cx="7714774" cy="22860"/>
          </a:xfrm>
          <a:prstGeom prst="roundRect">
            <a:avLst>
              <a:gd name="adj" fmla="val 371163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8" name="Text 15"/>
          <p:cNvSpPr/>
          <p:nvPr/>
        </p:nvSpPr>
        <p:spPr>
          <a:xfrm>
            <a:off x="916543" y="5093970"/>
            <a:ext cx="2525197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SQL w locie</a:t>
            </a:r>
            <a:endParaRPr lang="en-US" sz="1950" dirty="0"/>
          </a:p>
        </p:txBody>
      </p:sp>
      <p:sp>
        <p:nvSpPr>
          <p:cNvPr id="19" name="Text 16"/>
          <p:cNvSpPr/>
          <p:nvPr/>
        </p:nvSpPr>
        <p:spPr>
          <a:xfrm>
            <a:off x="916543" y="5517475"/>
            <a:ext cx="7310914" cy="3055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Automatyczne zapytania generowane z metadanych klas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706993" y="6234946"/>
            <a:ext cx="7730014" cy="1409819"/>
          </a:xfrm>
          <a:prstGeom prst="roundRect">
            <a:avLst>
              <a:gd name="adj" fmla="val 6018"/>
            </a:avLst>
          </a:prstGeom>
          <a:solidFill>
            <a:srgbClr val="C7C9EA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23" y="6539270"/>
            <a:ext cx="252413" cy="20193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363266" y="6465332"/>
            <a:ext cx="6871811" cy="916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Kluczowy wniosek: metaprogramowanie pozwala budować zaawansowane infrastruktury (ORM, AOP, serializacja) całkowicie transparentnie dla kodu domenowego.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713</TotalTime>
  <Words>653</Words>
  <Application>Microsoft Office PowerPoint</Application>
  <PresentationFormat>Niestandardowy</PresentationFormat>
  <Paragraphs>106</Paragraphs>
  <Slides>11</Slides>
  <Notes>8</Notes>
  <HiddenSlides>0</HiddenSlides>
  <MMClips>0</MMClips>
  <ScaleCrop>false</ScaleCrop>
  <HeadingPairs>
    <vt:vector size="6" baseType="variant">
      <vt:variant>
        <vt:lpstr>Używane czcionki</vt:lpstr>
      </vt:variant>
      <vt:variant>
        <vt:i4>7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11</vt:i4>
      </vt:variant>
    </vt:vector>
  </HeadingPairs>
  <TitlesOfParts>
    <vt:vector size="19" baseType="lpstr">
      <vt:lpstr>Inter Bold</vt:lpstr>
      <vt:lpstr>Inter Light</vt:lpstr>
      <vt:lpstr>Aptos Display</vt:lpstr>
      <vt:lpstr>Arial</vt:lpstr>
      <vt:lpstr>Aptos</vt:lpstr>
      <vt:lpstr>Consolas</vt:lpstr>
      <vt:lpstr>Inter</vt:lpstr>
      <vt:lpstr>Motyw pakietu Office</vt:lpstr>
      <vt:lpstr>Prezentacja programu PowerPoint</vt:lpstr>
      <vt:lpstr>Prezentacja programu PowerPoint</vt:lpstr>
      <vt:lpstr>Object-Relational Mapping - wstęp</vt:lpstr>
      <vt:lpstr>Problem impedancji</vt:lpstr>
      <vt:lpstr>Jak Python buduje klasy? - Metaklasy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kubab</dc:creator>
  <cp:lastModifiedBy>Jakub Bogunia</cp:lastModifiedBy>
  <cp:revision>3</cp:revision>
  <dcterms:created xsi:type="dcterms:W3CDTF">2026-05-04T00:27:31Z</dcterms:created>
  <dcterms:modified xsi:type="dcterms:W3CDTF">2026-05-04T12:22:28Z</dcterms:modified>
</cp:coreProperties>
</file>