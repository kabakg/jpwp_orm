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8" r:id="rId4"/>
    <p:sldId id="266" r:id="rId5"/>
    <p:sldId id="267" r:id="rId6"/>
    <p:sldId id="259" r:id="rId7"/>
    <p:sldId id="260" r:id="rId8"/>
    <p:sldId id="269" r:id="rId9"/>
    <p:sldId id="261" r:id="rId10"/>
    <p:sldId id="263" r:id="rId11"/>
    <p:sldId id="272" r:id="rId12"/>
    <p:sldId id="274" r:id="rId13"/>
    <p:sldId id="273" r:id="rId14"/>
    <p:sldId id="265" r:id="rId15"/>
    <p:sldId id="271" r:id="rId16"/>
  </p:sldIdLst>
  <p:sldSz cx="14630400" cy="8229600"/>
  <p:notesSz cx="8229600" cy="146304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772" autoAdjust="0"/>
  </p:normalViewPr>
  <p:slideViewPr>
    <p:cSldViewPr snapToGrid="0" snapToObjects="1">
      <p:cViewPr varScale="1">
        <p:scale>
          <a:sx n="102" d="100"/>
          <a:sy n="102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39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37588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483DBD-0044-7079-154E-E4184D716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F898ED9-86CC-64B0-2391-5367F39ED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9C8FB63-525A-AF53-9851-17EA3223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E6DD38C-61F6-DD69-08A0-61D5146B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854CF79-99A3-FBD8-F5CE-ED1BB63B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27520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8C2B3D-64F1-0CAB-0993-25A8063A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F766A7-C52D-8642-A3C2-0D563F04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E3A98E4-F5CD-79F9-5838-934BF79C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94CE7FA-DA38-34A6-B9EB-62A04BE7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BA8793-42C3-8569-9339-6855E1D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57350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E518FD-3B5B-53B5-632E-2AC8DD59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548F125-E200-29DB-5D10-93FBC315C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2E5E76-8FDB-3532-2A37-2D83D720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5F75119-D917-60AD-C901-96D109C1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23DF001-DF58-0E47-D325-7530698A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19343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368271-0268-A224-64B3-3B499E5D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802153-16F8-CA9F-A9A3-5C5988E98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7C15D6E-B66F-93DF-4BCA-0A2AF7E83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3ABB92E-F0E1-094A-47BF-1A3200F5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5B0607D-6267-52DB-C406-6C0B21F1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EF42C38-B1B5-3C94-6B07-F9C2653D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33360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6B20BB-7196-AF25-50F4-B7BDD3C7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5868E87-D87D-1B63-9FF3-63B17C834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BEC9207-FA74-C3E9-EA63-5FF046273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2C169FC-0010-D32A-0A38-17952068E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8303F5D-87DB-5053-1ED3-8F2156FC2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CA5A43D-F347-3D63-3C14-2BC7B060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6EBC6D6-DCD3-5EE6-CEF3-BF7112F3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31E4A7A-8B74-42C5-5D0E-E97AEB15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0976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63B5EC-6F70-6314-7D75-12633451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3208367-2726-64E7-A155-20AAE87B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68E39D0-AACE-A1C6-8A57-6651545F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60B7994-31ED-C0A9-AD63-8E7B9389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86029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3CFFF59-7233-20D5-6DB6-376488EA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DBB89B3-9BEB-D883-B2CF-A91FC7CE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4EED200-30A0-3DB6-1B02-007BD4DE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81207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CFD4B4-DA95-291B-2F24-17CFEE7A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54DD37-689A-3BB5-975E-A7F1E55F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47EE519-080A-B271-7336-5196BAA27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B642004-BFCA-FBE4-3F04-D7547948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0C323FE-312D-F1ED-6F3B-8698E57E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15FB22-D499-069B-24E0-A3A4487E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15711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A6409A-3985-4B09-314D-89D1112B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C2CB9B0A-B287-F15F-BF3F-EB9A25F55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67FD84C-9AA8-931A-C516-64A187EF6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711B1D-E9F2-903C-2DB7-533ECD41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9660CF7-3B25-E961-19CB-86B63DCF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F91C069-0AE8-2F37-3CFF-54640D19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3383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964636-511B-4ECD-9CE1-243DE7CC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88C2EBA-08FD-60FF-4B45-E1677CAEB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AFBC105-B8B8-BFE8-C25B-BCA7E1CB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A5ECFC-A4B3-1D4D-F1B2-8E31786F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9E6ADFC-B382-3295-26BC-1F4F9BC6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1297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2B9B77E-5F64-F631-1775-DAFB1DCB4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7E52056-23C8-3440-9293-00A2FE36E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576A5E-89D1-A17D-6DB1-AE6594D8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91D34A-3BE2-D18B-EA65-1D6F3472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9B8B997-36F9-278D-3E9C-CD217573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7226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847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684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88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917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123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30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17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7F664C7-2343-21F9-103E-BCF56EC6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4916A96-7C54-C38E-B975-AF838F228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3BCE3C-E298-D221-5410-58C944535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B734F-8983-453F-99D0-56DFFD383BAA}" type="datetimeFigureOut">
              <a:rPr lang="pl-PL" smtClean="0"/>
              <a:t>04.05.2026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2DE8C35-65B7-8E9B-0104-65E7A0DAC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AA2B19-0099-8A8C-CD6F-402DC379F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DC1EB-DA7D-4E07-B5C2-257CBC2877F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46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  <p:sldLayoutId id="2147483676" r:id="rId15"/>
    <p:sldLayoutId id="2147483677" r:id="rId16"/>
    <p:sldLayoutId id="2147483679" r:id="rId17"/>
    <p:sldLayoutId id="2147483681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3341" y="531776"/>
            <a:ext cx="7369822" cy="156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pl-PL" sz="4000" b="1" dirty="0"/>
              <a:t>Praktyczne zastosowanie dekoratorów </a:t>
            </a:r>
          </a:p>
          <a:p>
            <a:pPr>
              <a:lnSpc>
                <a:spcPts val="5550"/>
              </a:lnSpc>
            </a:pPr>
            <a:r>
              <a:rPr lang="pl-PL" sz="4000" b="1" dirty="0"/>
              <a:t>oraz </a:t>
            </a:r>
            <a:r>
              <a:rPr lang="pl-PL" sz="4000" b="1" dirty="0" err="1"/>
              <a:t>metaprogramowania</a:t>
            </a:r>
            <a:r>
              <a:rPr lang="pl-PL" sz="4000" b="1" dirty="0"/>
              <a:t> w ORM.</a:t>
            </a:r>
          </a:p>
          <a:p>
            <a:pPr>
              <a:lnSpc>
                <a:spcPts val="5550"/>
              </a:lnSpc>
            </a:pPr>
            <a:endParaRPr lang="pl-PL" sz="4000" b="1" dirty="0"/>
          </a:p>
          <a:p>
            <a:pPr marL="571500" indent="-571500">
              <a:lnSpc>
                <a:spcPts val="5550"/>
              </a:lnSpc>
              <a:buFont typeface="Arial" panose="020B0604020202020204" pitchFamily="34" charset="0"/>
              <a:buChar char="•"/>
            </a:pPr>
            <a:endParaRPr lang="pl-PL" b="1" dirty="0"/>
          </a:p>
          <a:p>
            <a:pPr>
              <a:lnSpc>
                <a:spcPts val="5550"/>
              </a:lnSpc>
            </a:pPr>
            <a:endParaRPr lang="pl-PL" b="1" dirty="0"/>
          </a:p>
          <a:p>
            <a:pPr>
              <a:lnSpc>
                <a:spcPts val="5550"/>
              </a:lnSpc>
            </a:pPr>
            <a:endParaRPr lang="pl-PL" b="1" dirty="0"/>
          </a:p>
        </p:txBody>
      </p:sp>
      <p:sp>
        <p:nvSpPr>
          <p:cNvPr id="4" name="Text 1"/>
          <p:cNvSpPr/>
          <p:nvPr/>
        </p:nvSpPr>
        <p:spPr>
          <a:xfrm>
            <a:off x="793790" y="39279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369CF1E-B88E-5FED-7149-5FFF3C2E3BD8}"/>
              </a:ext>
            </a:extLst>
          </p:cNvPr>
          <p:cNvSpPr txBox="1"/>
          <p:nvPr/>
        </p:nvSpPr>
        <p:spPr>
          <a:xfrm>
            <a:off x="803217" y="3470791"/>
            <a:ext cx="5776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Wykonali: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Jakub Bogunia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Szymon Kumorek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 prezentacji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l-PL" sz="2200" b="1" dirty="0">
                <a:solidFill>
                  <a:srgbClr val="272525"/>
                </a:solidFill>
                <a:ea typeface="Inter Bold" pitchFamily="34" charset="-122"/>
              </a:rPr>
              <a:t>Wstęp teoretyczny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l-PL" sz="1750" dirty="0"/>
              <a:t>Konflikt między światem bazodanowym a obiektowym, </a:t>
            </a:r>
            <a:r>
              <a:rPr lang="pl-PL" sz="1750" dirty="0" err="1"/>
              <a:t>Metaklasy</a:t>
            </a:r>
            <a:r>
              <a:rPr lang="pl-PL" sz="1750" dirty="0"/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pl-PL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Mapowanie i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proxy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l-PL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Adnotacje, deskryptory i zarządzanie stanem atrybutów. 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Wzorzec Dekorator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Dirty checking i lazy loading bez zmiany kodu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54279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Generowanie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SQL</a:t>
            </a:r>
            <a:r>
              <a:rPr lang="pl-PL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przykłady praktyczne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budowanie zapytań z adnotacji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Podsumowanie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pl-PL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Zalety/wady oraz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wnioski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4D7181-5933-4339-6CD7-4E55C751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Object-</a:t>
            </a:r>
            <a:r>
              <a:rPr lang="pl-PL" dirty="0" err="1"/>
              <a:t>Relational</a:t>
            </a:r>
            <a:r>
              <a:rPr lang="pl-PL" dirty="0"/>
              <a:t> </a:t>
            </a:r>
            <a:r>
              <a:rPr lang="pl-PL" dirty="0" err="1"/>
              <a:t>Mapping</a:t>
            </a:r>
            <a:r>
              <a:rPr lang="pl-PL" dirty="0"/>
              <a:t> - wstęp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3C06E2-7F7D-016D-4D08-64A51930C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800" dirty="0"/>
              <a:t>Jest to technika programowania, która stanowi „most” między dwoma różnymi światami:</a:t>
            </a:r>
          </a:p>
          <a:p>
            <a:r>
              <a:rPr lang="pl-PL" sz="2000" b="1" dirty="0"/>
              <a:t>Światem obiektowym:</a:t>
            </a:r>
            <a:r>
              <a:rPr lang="pl-PL" sz="2000" dirty="0"/>
              <a:t> W którym tworzysz klasy i obiekty (np. w </a:t>
            </a:r>
            <a:r>
              <a:rPr lang="pl-PL" sz="2000" dirty="0" err="1"/>
              <a:t>Pythonie</a:t>
            </a:r>
            <a:r>
              <a:rPr lang="pl-PL" sz="2000" dirty="0"/>
              <a:t> czy w Javie).</a:t>
            </a:r>
          </a:p>
          <a:p>
            <a:r>
              <a:rPr lang="pl-PL" sz="2000" b="1" dirty="0"/>
              <a:t>Światem relacyjnym:</a:t>
            </a:r>
            <a:r>
              <a:rPr lang="pl-PL" sz="2000" dirty="0"/>
              <a:t> W którym dane są przechowywane w tabelach bazy danych (np. SQL).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sz="2400" dirty="0"/>
              <a:t>Dzięki ORM programista może operować na bazie danych za pomocą swojego języka programowania (np. wywołując metody na obiektach), zamiast ręcznie pisać długie i skomplikowane zapytania SQL</a:t>
            </a:r>
          </a:p>
        </p:txBody>
      </p:sp>
      <p:pic>
        <p:nvPicPr>
          <p:cNvPr id="4" name="Obraz 3" descr="Python (programming language) - Wikipedia">
            <a:extLst>
              <a:ext uri="{FF2B5EF4-FFF2-40B4-BE49-F238E27FC236}">
                <a16:creationId xmlns:a16="http://schemas.microsoft.com/office/drawing/2014/main" id="{8C3910D4-7F08-C3F9-6AEA-FC233A5F3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648" y="5789727"/>
            <a:ext cx="2143125" cy="2143125"/>
          </a:xfrm>
          <a:prstGeom prst="rect">
            <a:avLst/>
          </a:prstGeom>
        </p:spPr>
      </p:pic>
      <p:pic>
        <p:nvPicPr>
          <p:cNvPr id="5" name="Obraz 4" descr="Grafika wektorowa Dwie strzałki, obrazy wektorowe | DepositPhotos">
            <a:extLst>
              <a:ext uri="{FF2B5EF4-FFF2-40B4-BE49-F238E27FC236}">
                <a16:creationId xmlns:a16="http://schemas.microsoft.com/office/drawing/2014/main" id="{0E44C0B5-935F-6472-3E03-A291FCA59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30" y="5648325"/>
            <a:ext cx="2143125" cy="2143125"/>
          </a:xfrm>
          <a:prstGeom prst="rect">
            <a:avLst/>
          </a:prstGeom>
        </p:spPr>
      </p:pic>
      <p:pic>
        <p:nvPicPr>
          <p:cNvPr id="7" name="Obraz 6" descr="SQL – Wikipedia, wolna encyklopedia">
            <a:extLst>
              <a:ext uri="{FF2B5EF4-FFF2-40B4-BE49-F238E27FC236}">
                <a16:creationId xmlns:a16="http://schemas.microsoft.com/office/drawing/2014/main" id="{F412ACA4-CBEE-C05B-C5DC-055EE366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156" y="6097905"/>
            <a:ext cx="30861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9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65EA52-9E32-AB93-E29C-2674BC5F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 impedancji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4434DE-FF5C-B05C-327A-9BDACF056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b="1" dirty="0"/>
              <a:t>Problem:</a:t>
            </a:r>
            <a:r>
              <a:rPr lang="pl-PL" sz="2800" dirty="0"/>
              <a:t> Dane w pamięci RAM (obiekty) są ustrukturyzowane zupełnie inaczej niż dane na dysku (tabele).</a:t>
            </a:r>
          </a:p>
          <a:p>
            <a:r>
              <a:rPr lang="pl-PL" sz="2800" b="1" dirty="0"/>
              <a:t>Rola ORM:</a:t>
            </a:r>
            <a:r>
              <a:rPr lang="pl-PL" sz="2800" dirty="0"/>
              <a:t> Biblioteka mapowania obiektowego pełni rolę tłumacza, który ukrywa te różnice przed programistą.</a:t>
            </a:r>
          </a:p>
          <a:p>
            <a:r>
              <a:rPr lang="pl-PL" sz="2800" b="1" dirty="0"/>
              <a:t>Zadanie dla </a:t>
            </a:r>
            <a:r>
              <a:rPr lang="pl-PL" sz="2800" b="1" dirty="0" err="1"/>
              <a:t>Metaprogramowania</a:t>
            </a:r>
            <a:r>
              <a:rPr lang="pl-PL" sz="2800" b="1" dirty="0"/>
              <a:t>:</a:t>
            </a:r>
            <a:r>
              <a:rPr lang="pl-PL" sz="2800" dirty="0"/>
              <a:t> Musimy "nauczyć" obiekty, jak mają się zachowywać, aby udawały, że są częścią bazy danych, zachowując jednocześnie swoją obiektową naturę.</a:t>
            </a:r>
          </a:p>
          <a:p>
            <a:endParaRPr lang="pl-PL" dirty="0"/>
          </a:p>
        </p:txBody>
      </p:sp>
      <p:pic>
        <p:nvPicPr>
          <p:cNvPr id="5" name="Obraz 4" descr="Opornik 10 kΩ 1 W 0.5 % +25 ppm/°C Folia metalowa RS PRO | RS">
            <a:extLst>
              <a:ext uri="{FF2B5EF4-FFF2-40B4-BE49-F238E27FC236}">
                <a16:creationId xmlns:a16="http://schemas.microsoft.com/office/drawing/2014/main" id="{C8E3082E-5B17-7623-0FF5-0F59F973E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928" y="5148344"/>
            <a:ext cx="4449991" cy="25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0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EEF97C-757E-C052-B3A2-DB9DC2AD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</a:t>
            </a:r>
            <a:r>
              <a:rPr lang="pl-PL" dirty="0" err="1"/>
              <a:t>Python</a:t>
            </a:r>
            <a:r>
              <a:rPr lang="pl-PL" dirty="0"/>
              <a:t> buduje klasy? - </a:t>
            </a:r>
            <a:r>
              <a:rPr lang="pl-PL" dirty="0" err="1"/>
              <a:t>Metaklasy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8AD487-C81D-7A36-A788-90B41704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/>
              <a:t>Metaklasa</a:t>
            </a:r>
            <a:r>
              <a:rPr lang="pl-PL" dirty="0"/>
              <a:t> jako ”Fabryka”</a:t>
            </a:r>
          </a:p>
          <a:p>
            <a:pPr marL="0" indent="0">
              <a:buNone/>
            </a:pPr>
            <a:r>
              <a:rPr lang="pl-PL" sz="2000" dirty="0"/>
              <a:t>     Własna </a:t>
            </a:r>
            <a:r>
              <a:rPr lang="pl-PL" sz="2000" dirty="0" err="1"/>
              <a:t>metaklasa</a:t>
            </a:r>
            <a:r>
              <a:rPr lang="pl-PL" sz="2000" dirty="0"/>
              <a:t> pozwala nam "włamać się" do procesu tworzenia klasy za pomocą dwóch metod:</a:t>
            </a:r>
          </a:p>
          <a:p>
            <a:r>
              <a:rPr lang="pl-PL" sz="2000" b="1" dirty="0"/>
              <a:t> __</a:t>
            </a:r>
            <a:r>
              <a:rPr lang="pl-PL" sz="2000" b="1" dirty="0" err="1"/>
              <a:t>new</a:t>
            </a:r>
            <a:r>
              <a:rPr lang="pl-PL" sz="2000" b="1" dirty="0"/>
              <a:t>__</a:t>
            </a:r>
            <a:r>
              <a:rPr lang="pl-PL" sz="2000" dirty="0"/>
              <a:t>: Wywoływana </a:t>
            </a:r>
            <a:r>
              <a:rPr lang="pl-PL" sz="2000" b="1" dirty="0"/>
              <a:t>zanim</a:t>
            </a:r>
            <a:r>
              <a:rPr lang="pl-PL" sz="2000" dirty="0"/>
              <a:t> klasa zostanie stworzona. Pozwala na modyfikację struktury (np. automatyczne dodanie kolumn technicznych).</a:t>
            </a:r>
          </a:p>
          <a:p>
            <a:r>
              <a:rPr lang="pl-PL" sz="2000" b="1" dirty="0"/>
              <a:t>__</a:t>
            </a:r>
            <a:r>
              <a:rPr lang="pl-PL" sz="2000" b="1" dirty="0" err="1"/>
              <a:t>init</a:t>
            </a:r>
            <a:r>
              <a:rPr lang="pl-PL" sz="2000" b="1" dirty="0"/>
              <a:t>__</a:t>
            </a:r>
            <a:r>
              <a:rPr lang="pl-PL" sz="2000" dirty="0"/>
              <a:t>: Wywoływana </a:t>
            </a:r>
            <a:r>
              <a:rPr lang="pl-PL" sz="2000" b="1" dirty="0"/>
              <a:t>po</a:t>
            </a:r>
            <a:r>
              <a:rPr lang="pl-PL" sz="2000" dirty="0"/>
              <a:t> utworzeniu klasy. Służy do rejestracji klasy w systemie (np. w mapach </a:t>
            </a:r>
            <a:r>
              <a:rPr lang="pl-PL" sz="2000" dirty="0" err="1"/>
              <a:t>SQLAlchemy</a:t>
            </a:r>
            <a:r>
              <a:rPr lang="pl-PL" sz="2000" dirty="0"/>
              <a:t>).</a:t>
            </a:r>
          </a:p>
          <a:p>
            <a:endParaRPr lang="pl-PL" dirty="0"/>
          </a:p>
        </p:txBody>
      </p:sp>
      <p:pic>
        <p:nvPicPr>
          <p:cNvPr id="7" name="Obraz 6" descr="Fabryka — zdjęcia stockowe, ilustracje i obrazy bez tantiem (liczba: 3,4  miliona) | Shutterstock">
            <a:extLst>
              <a:ext uri="{FF2B5EF4-FFF2-40B4-BE49-F238E27FC236}">
                <a16:creationId xmlns:a16="http://schemas.microsoft.com/office/drawing/2014/main" id="{17F8C7C1-8942-770B-A65B-4D8A65745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55"/>
          <a:stretch>
            <a:fillRect/>
          </a:stretch>
        </p:blipFill>
        <p:spPr>
          <a:xfrm>
            <a:off x="553025" y="5633936"/>
            <a:ext cx="4282926" cy="228906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2AD5C28-15E6-1175-C556-24FA70580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016" y="4431786"/>
            <a:ext cx="5081986" cy="316291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7B33A39-86F0-02B5-CA2E-97AE339AC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016" y="7756287"/>
            <a:ext cx="306747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9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21506"/>
            <a:ext cx="7719536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Adnotacje i Refleksja w akcji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86868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pl-PL" sz="2150" b="1" dirty="0">
                <a:solidFill>
                  <a:srgbClr val="000000"/>
                </a:solidFill>
                <a:ea typeface="Inter Bold" pitchFamily="34" charset="-122"/>
              </a:rPr>
              <a:t>Adnotacje, </a:t>
            </a:r>
            <a:r>
              <a:rPr lang="pl-PL" sz="2150" dirty="0">
                <a:solidFill>
                  <a:srgbClr val="000000"/>
                </a:solidFill>
                <a:ea typeface="Inter Bold" pitchFamily="34" charset="-122"/>
              </a:rPr>
              <a:t>czyli metadane przypisane do pól,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pl-PL" sz="2150" dirty="0">
                <a:solidFill>
                  <a:srgbClr val="000000"/>
                </a:solidFill>
                <a:ea typeface="Inter Bold" pitchFamily="34" charset="-122"/>
              </a:rPr>
              <a:t>które później odczyta nasz silnik.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49417" y="2687955"/>
            <a:ext cx="5725478" cy="389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5116" y="186868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pl-PL" sz="2150" b="1" dirty="0">
                <a:solidFill>
                  <a:srgbClr val="000000"/>
                </a:solidFill>
                <a:ea typeface="Inter Bold" pitchFamily="34" charset="-122"/>
              </a:rPr>
              <a:t>Refleksja </a:t>
            </a:r>
            <a:r>
              <a:rPr lang="pl-PL" sz="2400" dirty="0"/>
              <a:t>pozwala nam "zapytać" obiekt </a:t>
            </a:r>
          </a:p>
          <a:p>
            <a:pPr>
              <a:lnSpc>
                <a:spcPts val="2700"/>
              </a:lnSpc>
            </a:pPr>
            <a:r>
              <a:rPr lang="pl-PL" sz="2400" dirty="0"/>
              <a:t>o jego wnętrze w czasie działania programu. 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863126" y="2687955"/>
            <a:ext cx="5725478" cy="412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5116" y="6701671"/>
            <a:ext cx="62614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A1859460-9F16-1541-E7B9-6870759E7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2" y="2780897"/>
            <a:ext cx="6332940" cy="2911567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87324220-0F53-3767-26BA-EF573C7ED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679" y="3084604"/>
            <a:ext cx="7164370" cy="260786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FEEB802-5AC9-E44E-E6E3-5FCF916B8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72" y="5878868"/>
            <a:ext cx="6332940" cy="52031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C57C91A4-0633-F786-748F-465F9B9A9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300" y="5878868"/>
            <a:ext cx="7156749" cy="8477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10076"/>
            <a:ext cx="8173402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Dynamiczne Proxy — </a:t>
            </a:r>
            <a:r>
              <a:rPr lang="pl-PL" sz="4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Lazy</a:t>
            </a:r>
            <a:r>
              <a:rPr lang="pl-PL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pl-PL" sz="40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Loading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627513" y="171795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pl-PL" sz="20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27513" y="2225278"/>
            <a:ext cx="4291013" cy="1261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74210" y="3901916"/>
            <a:ext cx="3797618" cy="219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pl-PL" sz="1600" dirty="0">
              <a:solidFill>
                <a:srgbClr val="27252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27513" y="6511409"/>
            <a:ext cx="4291013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pl-PL" sz="16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A82F614A-5B66-14AD-4C70-1D9589C8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336" y="2907434"/>
            <a:ext cx="7846023" cy="3988944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CD42CE4-924F-3993-62B9-D1BCAA98EE1A}"/>
              </a:ext>
            </a:extLst>
          </p:cNvPr>
          <p:cNvSpPr txBox="1"/>
          <p:nvPr/>
        </p:nvSpPr>
        <p:spPr>
          <a:xfrm>
            <a:off x="989814" y="1923068"/>
            <a:ext cx="9667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Proxy</a:t>
            </a:r>
            <a:r>
              <a:rPr lang="pl-PL" dirty="0"/>
              <a:t> to obiekt, który udaje inną klasę, przechwytując wszystkie odwołania do jej pól i metod.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Mechanizm __</a:t>
            </a:r>
            <a:r>
              <a:rPr lang="pl-PL" b="1" dirty="0" err="1"/>
              <a:t>getattr</a:t>
            </a:r>
            <a:r>
              <a:rPr lang="pl-PL" b="1" dirty="0"/>
              <a:t>__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B26FAFA-004C-B8D3-9E62-7ADA373DABDE}"/>
              </a:ext>
            </a:extLst>
          </p:cNvPr>
          <p:cNvSpPr txBox="1"/>
          <p:nvPr/>
        </p:nvSpPr>
        <p:spPr>
          <a:xfrm>
            <a:off x="989814" y="3240049"/>
            <a:ext cx="5553251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b="1" dirty="0"/>
              <a:t>Zalety: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Oszczędność pamięci RAM</a:t>
            </a:r>
          </a:p>
          <a:p>
            <a:r>
              <a:rPr lang="pl-PL" sz="1600" dirty="0"/>
              <a:t>       Wykorzystanie Proxy umożliwia pobranie tylko</a:t>
            </a:r>
          </a:p>
          <a:p>
            <a:r>
              <a:rPr lang="pl-PL" sz="1600" dirty="0"/>
              <a:t>       tych danych, które potrzebujemy w danym momencie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Błyskawiczna Reakcja Aplikacji: </a:t>
            </a:r>
          </a:p>
          <a:p>
            <a:r>
              <a:rPr lang="pl-PL" sz="1600" dirty="0"/>
              <a:t>       Początkowe zapytanie SQL jest bardzo lekkie i szybkie. </a:t>
            </a:r>
          </a:p>
          <a:p>
            <a:r>
              <a:rPr lang="pl-PL" sz="1600" dirty="0"/>
              <a:t>       Aplikacja „startuje” natychmiast, bo nie musi czekać na </a:t>
            </a:r>
          </a:p>
          <a:p>
            <a:r>
              <a:rPr lang="pl-PL" sz="1600" dirty="0"/>
              <a:t>       zakończenie skomplikowanych operacji na wielu tabelach</a:t>
            </a:r>
          </a:p>
          <a:p>
            <a:endParaRPr lang="pl-PL" sz="1600" dirty="0"/>
          </a:p>
        </p:txBody>
      </p:sp>
      <p:pic>
        <p:nvPicPr>
          <p:cNvPr id="16" name="Obraz 15" descr="Klepsydra - YouTube">
            <a:extLst>
              <a:ext uri="{FF2B5EF4-FFF2-40B4-BE49-F238E27FC236}">
                <a16:creationId xmlns:a16="http://schemas.microsoft.com/office/drawing/2014/main" id="{B69E3A0A-2D75-5DB8-75C1-B42A576F82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754"/>
          <a:stretch>
            <a:fillRect/>
          </a:stretch>
        </p:blipFill>
        <p:spPr>
          <a:xfrm>
            <a:off x="11115675" y="0"/>
            <a:ext cx="3514725" cy="250410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725AC91-AB7C-6597-3722-3010E2F6A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336" y="7234413"/>
            <a:ext cx="6419654" cy="948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1A9906-B333-56AD-5EFB-21A5AE16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Dekoratory</a:t>
            </a:r>
            <a:r>
              <a:rPr lang="pl-PL" dirty="0"/>
              <a:t> – Elegancja wstrzykiwania logiki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3276BC-6B1F-89D2-0AD2-25DEF01B8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Czym jest dekorator w </a:t>
            </a:r>
            <a:r>
              <a:rPr lang="pl-PL" b="1" dirty="0" err="1"/>
              <a:t>Pythonie</a:t>
            </a:r>
            <a:r>
              <a:rPr lang="pl-PL" b="1" dirty="0"/>
              <a:t>:                                                               </a:t>
            </a:r>
            <a:r>
              <a:rPr lang="pl-PL" sz="2400" dirty="0"/>
              <a:t>Jest to funkcja, która przyjmuje funkcję lub klasę i zwraca jej zmodyfikowaną wersję nie dotykając jej kodu źródłowego.</a:t>
            </a:r>
          </a:p>
          <a:p>
            <a:r>
              <a:rPr lang="pl-PL" sz="2400" dirty="0"/>
              <a:t>W systemach</a:t>
            </a:r>
            <a:r>
              <a:rPr lang="pl-PL" sz="2400" b="1" dirty="0"/>
              <a:t> ORM </a:t>
            </a:r>
            <a:r>
              <a:rPr lang="pl-PL" sz="2400" dirty="0" err="1"/>
              <a:t>dekoratory</a:t>
            </a:r>
            <a:r>
              <a:rPr lang="pl-PL" sz="2400" dirty="0"/>
              <a:t> służą do "rejestrowania" klas w silniku bazy danych, dodawania dodatkowych pól technicznych niezbędnych dla ORM oraz pozwalają na </a:t>
            </a:r>
            <a:r>
              <a:rPr lang="pl-PL" sz="2400" dirty="0" err="1"/>
              <a:t>Dirty</a:t>
            </a:r>
            <a:r>
              <a:rPr lang="pl-PL" sz="2400" dirty="0"/>
              <a:t> </a:t>
            </a:r>
            <a:r>
              <a:rPr lang="pl-PL" sz="2400" dirty="0" err="1"/>
              <a:t>Checking</a:t>
            </a:r>
            <a:r>
              <a:rPr lang="pl-PL" sz="2400" dirty="0"/>
              <a:t>, czyli raportowanie zmian do systemu.</a:t>
            </a:r>
          </a:p>
          <a:p>
            <a:pPr marL="0" indent="0">
              <a:buNone/>
            </a:pPr>
            <a:r>
              <a:rPr lang="pl-PL" dirty="0"/>
              <a:t>                                                                         </a:t>
            </a:r>
            <a:endParaRPr lang="pl-PL" sz="2800" dirty="0"/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1080C98-90FA-F21D-BCC5-FBFDB2F3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313" y="4222612"/>
            <a:ext cx="5915851" cy="336279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960FC28-4485-A112-6772-CB6137BC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313" y="7758456"/>
            <a:ext cx="4077269" cy="371527"/>
          </a:xfrm>
          <a:prstGeom prst="rect">
            <a:avLst/>
          </a:prstGeom>
        </p:spPr>
      </p:pic>
      <p:pic>
        <p:nvPicPr>
          <p:cNvPr id="7" name="Obraz 6" descr="Dekoratory w Pythonie - TesteremByc.pl">
            <a:extLst>
              <a:ext uri="{FF2B5EF4-FFF2-40B4-BE49-F238E27FC236}">
                <a16:creationId xmlns:a16="http://schemas.microsoft.com/office/drawing/2014/main" id="{4E68E9D2-B756-CDCF-02FB-366DB9FA3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9" y="4933950"/>
            <a:ext cx="4393137" cy="257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40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758" y="640199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Dirty Checking — śledzenie zmian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1758" y="2236113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708898" y="2236113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1032272" y="246804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32272" y="2910245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wykryć, które pola obiektu zmieniły się od momentu załadowania — bez modyfikowania klasy domenowej?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758" y="3977640"/>
            <a:ext cx="7680484" cy="1870115"/>
          </a:xfrm>
          <a:prstGeom prst="roundRect">
            <a:avLst>
              <a:gd name="adj" fmla="val 586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l-PL" b="1" dirty="0"/>
          </a:p>
          <a:p>
            <a:endParaRPr lang="pl-PL" b="1" dirty="0"/>
          </a:p>
          <a:p>
            <a:r>
              <a:rPr lang="pl-PL" b="1" dirty="0"/>
              <a:t>    Dekorator</a:t>
            </a:r>
            <a:r>
              <a:rPr lang="pl-PL" dirty="0"/>
              <a:t> podczas tworzenia instancji klasy "owija" ją w obiekt Proxy.  </a:t>
            </a:r>
          </a:p>
          <a:p>
            <a:r>
              <a:rPr lang="pl-PL" dirty="0"/>
              <a:t>    Proxy przejmuje kontrolę nad metodą </a:t>
            </a:r>
            <a:r>
              <a:rPr lang="pl-PL" b="1" dirty="0"/>
              <a:t>__</a:t>
            </a:r>
            <a:r>
              <a:rPr lang="pl-PL" b="1" dirty="0" err="1"/>
              <a:t>setattr</a:t>
            </a:r>
            <a:r>
              <a:rPr lang="pl-PL" b="1" dirty="0"/>
              <a:t>__. </a:t>
            </a:r>
          </a:p>
          <a:p>
            <a:r>
              <a:rPr lang="pl-PL" dirty="0"/>
              <a:t>    Przy każdej próbie zmiany Proxy porównuje nową wartość ze </a:t>
            </a:r>
            <a:r>
              <a:rPr lang="pl-PL" dirty="0" err="1"/>
              <a:t>snapshotem</a:t>
            </a:r>
            <a:r>
              <a:rPr lang="pl-PL" dirty="0"/>
              <a:t>         </a:t>
            </a:r>
          </a:p>
          <a:p>
            <a:r>
              <a:rPr lang="pl-PL" dirty="0"/>
              <a:t>    i zapisuje różnicę w </a:t>
            </a:r>
            <a:r>
              <a:rPr lang="pl-PL" sz="1600" b="1" i="1" dirty="0" err="1"/>
              <a:t>dirty_fields</a:t>
            </a:r>
            <a:r>
              <a:rPr lang="pl-PL" sz="1600" b="1" i="1" dirty="0"/>
              <a:t>.</a:t>
            </a:r>
            <a:endParaRPr lang="pl-PL" b="1" i="1" dirty="0"/>
          </a:p>
        </p:txBody>
      </p:sp>
      <p:sp>
        <p:nvSpPr>
          <p:cNvPr id="9" name="Shape 6"/>
          <p:cNvSpPr/>
          <p:nvPr/>
        </p:nvSpPr>
        <p:spPr>
          <a:xfrm>
            <a:off x="708898" y="3977640"/>
            <a:ext cx="91440" cy="187011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1032272" y="4209574"/>
            <a:ext cx="4057055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Rozwiązanie: Dekorator + </a:t>
            </a:r>
            <a:r>
              <a:rPr lang="pl-PL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Przechwytywanie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32272" y="4651772"/>
            <a:ext cx="714803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758" y="6040517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708898" y="6040517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1032272" y="627245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Rezultat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32272" y="6714649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 commitcie ORM generuje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tylko dla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zmienionych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pl-PL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pól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minimalny narzut na bazę danych.</a:t>
            </a:r>
            <a:endParaRPr lang="en-US" sz="1600" dirty="0"/>
          </a:p>
        </p:txBody>
      </p:sp>
      <p:pic>
        <p:nvPicPr>
          <p:cNvPr id="17" name="Obraz 16" descr="Człowiek Patrząc Przez Lupę Na Obiekcie. Zdjęcia royalty free, obrazki,  obrazy oraz fotografia seryjna. Image 31899738">
            <a:extLst>
              <a:ext uri="{FF2B5EF4-FFF2-40B4-BE49-F238E27FC236}">
                <a16:creationId xmlns:a16="http://schemas.microsoft.com/office/drawing/2014/main" id="{33D4E6FD-4E5F-9CA5-B841-344D45C3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693" y="2162420"/>
            <a:ext cx="4522607" cy="60212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30900"/>
            <a:ext cx="6575108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Generowanie SQL z adnotacji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956905" y="7156728"/>
            <a:ext cx="12716470" cy="54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10B55BF-0780-0C99-A5C2-3367C5845890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46AF2864-875E-3D8B-F50A-D0B9A521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25" y="1696608"/>
            <a:ext cx="13008906" cy="7101542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4B5B52A-1621-0FBA-59D1-FD5218E78096}"/>
              </a:ext>
            </a:extLst>
          </p:cNvPr>
          <p:cNvSpPr txBox="1"/>
          <p:nvPr/>
        </p:nvSpPr>
        <p:spPr>
          <a:xfrm>
            <a:off x="956905" y="1583703"/>
            <a:ext cx="12636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b="1" dirty="0"/>
              <a:t>Analiza (</a:t>
            </a:r>
            <a:r>
              <a:rPr lang="pl-PL" b="1" dirty="0" err="1"/>
              <a:t>Metaklasy</a:t>
            </a:r>
            <a:r>
              <a:rPr lang="pl-PL" b="1" dirty="0"/>
              <a:t>):</a:t>
            </a:r>
            <a:r>
              <a:rPr lang="pl-PL" dirty="0"/>
              <a:t> Odczytanie struktury klasy i mapowanie jej na tabele bazy danych. </a:t>
            </a:r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Intercepcja (</a:t>
            </a:r>
            <a:r>
              <a:rPr lang="pl-PL" b="1" dirty="0" err="1"/>
              <a:t>Dekoratory</a:t>
            </a:r>
            <a:r>
              <a:rPr lang="pl-PL" b="1" dirty="0"/>
              <a:t> + Proxy):</a:t>
            </a:r>
            <a:r>
              <a:rPr lang="pl-PL" dirty="0"/>
              <a:t> Przechwycenie zmian w obiekcie w czasie rzeczywistym. </a:t>
            </a:r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Transformacja:</a:t>
            </a:r>
            <a:r>
              <a:rPr lang="pl-PL" dirty="0"/>
              <a:t> Przełożenie obiektowych operacji </a:t>
            </a:r>
            <a:r>
              <a:rPr lang="pl-PL" dirty="0" err="1"/>
              <a:t>Pythona</a:t>
            </a:r>
            <a:r>
              <a:rPr lang="pl-PL" dirty="0"/>
              <a:t> na język SQL. 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8F0467-BDDE-96E4-2E3D-537C82FC3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1" y="-128397"/>
            <a:ext cx="14102499" cy="1964507"/>
          </a:xfrm>
        </p:spPr>
        <p:txBody>
          <a:bodyPr/>
          <a:lstStyle/>
          <a:p>
            <a:r>
              <a:rPr lang="pl-PL" dirty="0" err="1"/>
              <a:t>SQLAlchemy</a:t>
            </a:r>
            <a:r>
              <a:rPr lang="pl-PL" dirty="0"/>
              <a:t> – </a:t>
            </a:r>
            <a:r>
              <a:rPr lang="pl-PL" dirty="0" err="1"/>
              <a:t>Metaprogramowanie</a:t>
            </a:r>
            <a:r>
              <a:rPr lang="pl-PL" dirty="0"/>
              <a:t> w Praktyce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D8A3F4-F6A9-7FA5-E465-931AB32F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1" y="1715678"/>
            <a:ext cx="13096659" cy="5696678"/>
          </a:xfrm>
        </p:spPr>
        <p:txBody>
          <a:bodyPr>
            <a:normAutofit lnSpcReduction="10000"/>
          </a:bodyPr>
          <a:lstStyle/>
          <a:p>
            <a:r>
              <a:rPr lang="pl-PL" sz="2800" b="1" dirty="0"/>
              <a:t>Kod niezależny od silnika:</a:t>
            </a:r>
            <a:endParaRPr lang="pl-PL" sz="2800" dirty="0"/>
          </a:p>
          <a:p>
            <a:pPr marL="0" indent="0">
              <a:buNone/>
            </a:pPr>
            <a:r>
              <a:rPr lang="pl-PL" sz="2400" dirty="0"/>
              <a:t>    </a:t>
            </a:r>
            <a:r>
              <a:rPr lang="pl-PL" sz="2000" dirty="0"/>
              <a:t>Piszesz zapytania raz w </a:t>
            </a:r>
            <a:r>
              <a:rPr lang="pl-PL" sz="2000" dirty="0" err="1"/>
              <a:t>Pythonie</a:t>
            </a:r>
            <a:r>
              <a:rPr lang="pl-PL" sz="2000" dirty="0"/>
              <a:t>, a biblioteka automatycznie tłumaczy je na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pl-PL" sz="2000" dirty="0"/>
              <a:t>    język konkretnej bazy (np. </a:t>
            </a:r>
            <a:r>
              <a:rPr lang="pl-PL" sz="2000" dirty="0" err="1"/>
              <a:t>PostgreSQL</a:t>
            </a:r>
            <a:r>
              <a:rPr lang="pl-PL" sz="2000" dirty="0"/>
              <a:t> czy MySQL).</a:t>
            </a:r>
            <a:endParaRPr lang="pl-PL" sz="2000" b="1" dirty="0"/>
          </a:p>
          <a:p>
            <a:r>
              <a:rPr lang="pl-PL" sz="2800" b="1" dirty="0"/>
              <a:t>Łatwa migracja:</a:t>
            </a:r>
            <a:endParaRPr lang="pl-PL" sz="2800" dirty="0"/>
          </a:p>
          <a:p>
            <a:pPr marL="0" indent="0">
              <a:buNone/>
            </a:pPr>
            <a:r>
              <a:rPr lang="pl-PL" sz="2800" dirty="0"/>
              <a:t>    </a:t>
            </a:r>
            <a:r>
              <a:rPr lang="pl-PL" sz="2000" dirty="0"/>
              <a:t>Możesz rozwijać projekt na lekkiej bazie </a:t>
            </a:r>
            <a:r>
              <a:rPr lang="pl-PL" sz="2000" dirty="0" err="1"/>
              <a:t>SQLite</a:t>
            </a:r>
            <a:r>
              <a:rPr lang="pl-PL" sz="2000" dirty="0"/>
              <a:t>, aby później przełączyć się na  </a:t>
            </a:r>
          </a:p>
          <a:p>
            <a:pPr marL="0" indent="0">
              <a:buNone/>
            </a:pPr>
            <a:r>
              <a:rPr lang="pl-PL" sz="2000" dirty="0"/>
              <a:t>     potężny serwer bazy danych bez zmieniania logiki w kodzie.</a:t>
            </a:r>
            <a:endParaRPr lang="pl-PL" sz="2000" b="1" dirty="0"/>
          </a:p>
          <a:p>
            <a:r>
              <a:rPr lang="pl-PL" sz="2800" b="1" dirty="0"/>
              <a:t>Bezpieczeństwo:</a:t>
            </a:r>
          </a:p>
          <a:p>
            <a:pPr marL="0" indent="0">
              <a:buNone/>
            </a:pPr>
            <a:r>
              <a:rPr lang="pl-PL" sz="2800" dirty="0"/>
              <a:t>   </a:t>
            </a:r>
            <a:r>
              <a:rPr lang="pl-PL" sz="2400" dirty="0"/>
              <a:t> </a:t>
            </a:r>
            <a:r>
              <a:rPr lang="pl-PL" sz="2000" dirty="0"/>
              <a:t>Biblioteka automatycznie chroni Cię przed atakami typu SQL </a:t>
            </a:r>
            <a:r>
              <a:rPr lang="pl-PL" sz="2000" dirty="0" err="1"/>
              <a:t>Injection</a:t>
            </a:r>
            <a:r>
              <a:rPr lang="pl-PL" sz="2000" dirty="0"/>
              <a:t>, dbając o      </a:t>
            </a:r>
          </a:p>
          <a:p>
            <a:pPr marL="0" indent="0">
              <a:buNone/>
            </a:pPr>
            <a:r>
              <a:rPr lang="pl-PL" sz="2000" dirty="0"/>
              <a:t>     poprawne formatowanie i przesyłanie danych do bazy.</a:t>
            </a:r>
            <a:endParaRPr lang="pl-PL" sz="2000" b="1" dirty="0"/>
          </a:p>
          <a:p>
            <a:r>
              <a:rPr lang="pl-PL" sz="2800" b="1" dirty="0" err="1"/>
              <a:t>Alembic</a:t>
            </a:r>
            <a:r>
              <a:rPr lang="pl-PL" sz="2800" b="1" dirty="0"/>
              <a:t> (Zarządzanie Czasem):</a:t>
            </a:r>
            <a:endParaRPr lang="pl-PL" sz="2800" dirty="0"/>
          </a:p>
          <a:p>
            <a:pPr marL="0" indent="0">
              <a:buNone/>
            </a:pPr>
            <a:r>
              <a:rPr lang="pl-PL" sz="2400" dirty="0"/>
              <a:t>  </a:t>
            </a:r>
            <a:r>
              <a:rPr lang="pl-PL" sz="2000" dirty="0"/>
              <a:t>  Narzędzie, które śledzi zmiany w Twoich modelach i tworzy "historię wersji" bazy danych, pozwalając </a:t>
            </a:r>
          </a:p>
          <a:p>
            <a:pPr marL="0" indent="0">
              <a:buNone/>
            </a:pPr>
            <a:r>
              <a:rPr lang="pl-PL" sz="2000" dirty="0"/>
              <a:t>    na bezpieczne aktualizowanie jej struktury.</a:t>
            </a:r>
          </a:p>
        </p:txBody>
      </p:sp>
      <p:pic>
        <p:nvPicPr>
          <p:cNvPr id="4" name="Obraz 3" descr="Python: 3 Sqlalchemy useful tips you will use almost every time | ITNEXT">
            <a:extLst>
              <a:ext uri="{FF2B5EF4-FFF2-40B4-BE49-F238E27FC236}">
                <a16:creationId xmlns:a16="http://schemas.microsoft.com/office/drawing/2014/main" id="{A556C95E-9513-8025-7CF4-CBB37027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789" y="2432115"/>
            <a:ext cx="4624923" cy="229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83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DC031C-ED0E-D2BC-B77D-73485AFB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ORM – Bilans Zysków i Strat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4012D18-FC15-5929-4C8A-9DA057726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Zalety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3EF35DB-6569-78D1-B31A-E5992454BE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l-PL" dirty="0"/>
              <a:t>Szybkość tworzenia</a:t>
            </a:r>
          </a:p>
          <a:p>
            <a:r>
              <a:rPr lang="pl-PL" dirty="0"/>
              <a:t>Bezpieczeństwo</a:t>
            </a:r>
          </a:p>
          <a:p>
            <a:r>
              <a:rPr lang="pl-PL" dirty="0"/>
              <a:t>Czytelność kodu</a:t>
            </a:r>
          </a:p>
          <a:p>
            <a:r>
              <a:rPr lang="pl-PL" dirty="0"/>
              <a:t>Łatwa </a:t>
            </a:r>
            <a:r>
              <a:rPr lang="pl-PL" dirty="0" err="1"/>
              <a:t>refaktoryzacja</a:t>
            </a:r>
            <a:r>
              <a:rPr lang="pl-PL" dirty="0"/>
              <a:t>: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10ABEE9-680D-8885-E783-E7D2EFDAA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/>
              <a:t>Wady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18239FC-FFE5-56FC-FF8B-87E66F03B7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l-PL" dirty="0"/>
              <a:t>Może zabić wydajność aplikacji</a:t>
            </a:r>
          </a:p>
          <a:p>
            <a:r>
              <a:rPr lang="pl-PL" dirty="0"/>
              <a:t>Przy bardzo skomplikowanych zapytaniach, może być mniej optymalne niż te napisane ręcznie</a:t>
            </a:r>
          </a:p>
          <a:p>
            <a:r>
              <a:rPr lang="pl-PL" dirty="0"/>
              <a:t>Trudniejsze debugowanie kodu</a:t>
            </a:r>
          </a:p>
          <a:p>
            <a:endParaRPr lang="pl-PL" dirty="0"/>
          </a:p>
        </p:txBody>
      </p:sp>
      <p:pic>
        <p:nvPicPr>
          <p:cNvPr id="7" name="Obraz 6" descr="Czerwony X Jako Ograniczenie, Zakaz, Bariera, Ikona Błędu - Ilustracja  Wektorowa, Grafika Clipart SVG, Cliparty, ilustracje stockowe oraz  ilustracje wektorowe Royalty Free. Image 182881323">
            <a:extLst>
              <a:ext uri="{FF2B5EF4-FFF2-40B4-BE49-F238E27FC236}">
                <a16:creationId xmlns:a16="http://schemas.microsoft.com/office/drawing/2014/main" id="{A45E68FE-9EB0-8C74-658B-A1052532B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122617"/>
            <a:ext cx="279712" cy="279712"/>
          </a:xfrm>
          <a:prstGeom prst="rect">
            <a:avLst/>
          </a:prstGeom>
        </p:spPr>
      </p:pic>
      <p:pic>
        <p:nvPicPr>
          <p:cNvPr id="8" name="Obraz 7" descr="Czerwony X Jako Ograniczenie, Zakaz, Bariera, Ikona Błędu - Ilustracja  Wektorowa, Grafika Clipart SVG, Cliparty, ilustracje stockowe oraz  ilustracje wektorowe Royalty Free. Image 182881323">
            <a:extLst>
              <a:ext uri="{FF2B5EF4-FFF2-40B4-BE49-F238E27FC236}">
                <a16:creationId xmlns:a16="http://schemas.microsoft.com/office/drawing/2014/main" id="{D5C10E6B-D8F8-DB52-F02D-2AFB7B5DD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184" y="3703642"/>
            <a:ext cx="279712" cy="279712"/>
          </a:xfrm>
          <a:prstGeom prst="rect">
            <a:avLst/>
          </a:prstGeom>
        </p:spPr>
      </p:pic>
      <p:pic>
        <p:nvPicPr>
          <p:cNvPr id="9" name="Obraz 8" descr="ptaszek zielony | PZSzach">
            <a:extLst>
              <a:ext uri="{FF2B5EF4-FFF2-40B4-BE49-F238E27FC236}">
                <a16:creationId xmlns:a16="http://schemas.microsoft.com/office/drawing/2014/main" id="{51A9CD98-31CC-1031-83ED-EE18C1D08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80" y="3142287"/>
            <a:ext cx="260042" cy="260042"/>
          </a:xfrm>
          <a:prstGeom prst="rect">
            <a:avLst/>
          </a:prstGeom>
        </p:spPr>
      </p:pic>
      <p:pic>
        <p:nvPicPr>
          <p:cNvPr id="10" name="Obraz 9" descr="ptaszek zielony | PZSzach">
            <a:extLst>
              <a:ext uri="{FF2B5EF4-FFF2-40B4-BE49-F238E27FC236}">
                <a16:creationId xmlns:a16="http://schemas.microsoft.com/office/drawing/2014/main" id="{EE9970C3-905A-E871-81CF-6160E765F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80" y="3723312"/>
            <a:ext cx="260042" cy="260042"/>
          </a:xfrm>
          <a:prstGeom prst="rect">
            <a:avLst/>
          </a:prstGeom>
        </p:spPr>
      </p:pic>
      <p:pic>
        <p:nvPicPr>
          <p:cNvPr id="11" name="Obraz 10" descr="ptaszek zielony | PZSzach">
            <a:extLst>
              <a:ext uri="{FF2B5EF4-FFF2-40B4-BE49-F238E27FC236}">
                <a16:creationId xmlns:a16="http://schemas.microsoft.com/office/drawing/2014/main" id="{C2E7FFF0-CFF8-7A03-D3E1-BCA10D86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59" y="4304337"/>
            <a:ext cx="260042" cy="260042"/>
          </a:xfrm>
          <a:prstGeom prst="rect">
            <a:avLst/>
          </a:prstGeom>
        </p:spPr>
      </p:pic>
      <p:pic>
        <p:nvPicPr>
          <p:cNvPr id="12" name="Obraz 11" descr="ptaszek zielony | PZSzach">
            <a:extLst>
              <a:ext uri="{FF2B5EF4-FFF2-40B4-BE49-F238E27FC236}">
                <a16:creationId xmlns:a16="http://schemas.microsoft.com/office/drawing/2014/main" id="{B3B80826-8072-162F-7C05-150AB8352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46" y="4946627"/>
            <a:ext cx="260042" cy="260042"/>
          </a:xfrm>
          <a:prstGeom prst="rect">
            <a:avLst/>
          </a:prstGeom>
        </p:spPr>
      </p:pic>
      <p:pic>
        <p:nvPicPr>
          <p:cNvPr id="13" name="Obraz 12" descr="Czerwony X Jako Ograniczenie, Zakaz, Bariera, Ikona Błędu - Ilustracja  Wektorowa, Grafika Clipart SVG, Cliparty, ilustracje stockowe oraz  ilustracje wektorowe Royalty Free. Image 182881323">
            <a:extLst>
              <a:ext uri="{FF2B5EF4-FFF2-40B4-BE49-F238E27FC236}">
                <a16:creationId xmlns:a16="http://schemas.microsoft.com/office/drawing/2014/main" id="{39FB74F5-225C-4B84-6B3A-132BC052B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5703695"/>
            <a:ext cx="279712" cy="2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86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336EF2-A79F-62FF-7D7A-C01AD72B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Praktyczne wykorzystanie ORM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7320C6-ED29-37ED-324A-7432C3B3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376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993" y="584716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Podsumowanie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1485781"/>
            <a:ext cx="7730014" cy="4546759"/>
          </a:xfrm>
          <a:prstGeom prst="roundRect">
            <a:avLst>
              <a:gd name="adj" fmla="val 186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714613" y="1493401"/>
            <a:ext cx="7714774" cy="1132880"/>
          </a:xfrm>
          <a:prstGeom prst="roundRect">
            <a:avLst>
              <a:gd name="adj" fmla="val 74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916543" y="1695331"/>
            <a:ext cx="268712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Adnotacje + Refleksja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16543" y="2118836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Deklaratywne mapowanie obiektowo-relacyjne bez XML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14613" y="2626281"/>
            <a:ext cx="7714774" cy="113288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714613" y="2626281"/>
            <a:ext cx="7714774" cy="22860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916543" y="2828211"/>
            <a:ext cx="555024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Dynamiczne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Proxy</a:t>
            </a:r>
            <a:r>
              <a:rPr lang="pl-PL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Deskryptory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16543" y="3251716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Przechwytywanie wywołań — baza dla lazy loadingu i dirty checkingu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4613" y="3759160"/>
            <a:ext cx="7714774" cy="113288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714613" y="3759160"/>
            <a:ext cx="7714774" cy="22860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916543" y="396109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Wzorzec Dekorator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16543" y="4384596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Rozszerzanie zachowania obiektów bez zmiany ich kodu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14613" y="4892040"/>
            <a:ext cx="7714774" cy="113288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4"/>
          <p:cNvSpPr/>
          <p:nvPr/>
        </p:nvSpPr>
        <p:spPr>
          <a:xfrm>
            <a:off x="714613" y="4892040"/>
            <a:ext cx="7714774" cy="22860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916543" y="509397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w locie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16543" y="5517475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zapytania generowane z metadanych klas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06993" y="6234946"/>
            <a:ext cx="7730014" cy="1409819"/>
          </a:xfrm>
          <a:prstGeom prst="roundRect">
            <a:avLst>
              <a:gd name="adj" fmla="val 6018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23" y="6539270"/>
            <a:ext cx="252413" cy="2019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63266" y="6465332"/>
            <a:ext cx="6871811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Kluczowy wniosek: metaprogramowanie pozwala </a:t>
            </a:r>
            <a:r>
              <a:rPr lang="en-US" sz="15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budować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zaawansowan</a:t>
            </a:r>
            <a:r>
              <a:rPr lang="pl-PL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ą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</a:t>
            </a:r>
            <a:r>
              <a:rPr lang="pl-PL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ę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ORM całkowicie transparentnie dla kodu domenowego.</a:t>
            </a:r>
            <a:endParaRPr lang="en-US" sz="1550" dirty="0"/>
          </a:p>
        </p:txBody>
      </p:sp>
      <p:pic>
        <p:nvPicPr>
          <p:cNvPr id="28" name="Obraz 27" descr="Uitroepteken - Gratis vector emoji op creazilla.com">
            <a:extLst>
              <a:ext uri="{FF2B5EF4-FFF2-40B4-BE49-F238E27FC236}">
                <a16:creationId xmlns:a16="http://schemas.microsoft.com/office/drawing/2014/main" id="{B5303005-60A5-20BB-41A6-ED625B503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404" y="1921064"/>
            <a:ext cx="5002539" cy="50025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4193BD-6639-2A5E-7504-7EFEB2D0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Dziękujemy za uwagę!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BC0306-B262-C229-DF83-341937925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Bibliografia:</a:t>
            </a:r>
          </a:p>
        </p:txBody>
      </p:sp>
    </p:spTree>
    <p:extLst>
      <p:ext uri="{BB962C8B-B14F-4D97-AF65-F5344CB8AC3E}">
        <p14:creationId xmlns:p14="http://schemas.microsoft.com/office/powerpoint/2010/main" val="27239139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836</Words>
  <Application>Microsoft Office PowerPoint</Application>
  <PresentationFormat>Niestandardowy</PresentationFormat>
  <Paragraphs>124</Paragraphs>
  <Slides>15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3" baseType="lpstr">
      <vt:lpstr>Inter Bold</vt:lpstr>
      <vt:lpstr>Inter Light</vt:lpstr>
      <vt:lpstr>Aptos Display</vt:lpstr>
      <vt:lpstr>Arial</vt:lpstr>
      <vt:lpstr>Aptos</vt:lpstr>
      <vt:lpstr>Consolas</vt:lpstr>
      <vt:lpstr>Inter</vt:lpstr>
      <vt:lpstr>Motyw pakietu Office</vt:lpstr>
      <vt:lpstr>Prezentacja programu PowerPoint</vt:lpstr>
      <vt:lpstr>Prezentacja programu PowerPoint</vt:lpstr>
      <vt:lpstr>Object-Relational Mapping - wstęp</vt:lpstr>
      <vt:lpstr>Problem impedancji</vt:lpstr>
      <vt:lpstr>Jak Python buduje klasy? - Metaklasy</vt:lpstr>
      <vt:lpstr>Prezentacja programu PowerPoint</vt:lpstr>
      <vt:lpstr>Prezentacja programu PowerPoint</vt:lpstr>
      <vt:lpstr>Dekoratory – Elegancja wstrzykiwania logiki</vt:lpstr>
      <vt:lpstr>Prezentacja programu PowerPoint</vt:lpstr>
      <vt:lpstr>Prezentacja programu PowerPoint</vt:lpstr>
      <vt:lpstr>SQLAlchemy – Metaprogramowanie w Praktyce</vt:lpstr>
      <vt:lpstr>ORM – Bilans Zysków i Strat</vt:lpstr>
      <vt:lpstr>Praktyczne wykorzystanie ORM</vt:lpstr>
      <vt:lpstr>Prezentacja programu PowerPoint</vt:lpstr>
      <vt:lpstr>Dziękujemy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kubab</dc:creator>
  <cp:lastModifiedBy>Jakub Bogunia</cp:lastModifiedBy>
  <cp:revision>8</cp:revision>
  <dcterms:created xsi:type="dcterms:W3CDTF">2026-05-04T00:27:31Z</dcterms:created>
  <dcterms:modified xsi:type="dcterms:W3CDTF">2026-05-04T20:21:01Z</dcterms:modified>
</cp:coreProperties>
</file>